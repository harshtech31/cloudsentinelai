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1"/>
  </p:notesMasterIdLst>
  <p:sldIdLst>
    <p:sldId id="256" r:id="rId2"/>
    <p:sldId id="257" r:id="rId3"/>
    <p:sldId id="258" r:id="rId4"/>
    <p:sldId id="259" r:id="rId5"/>
    <p:sldId id="260" r:id="rId6"/>
    <p:sldId id="265" r:id="rId7"/>
    <p:sldId id="261" r:id="rId8"/>
    <p:sldId id="263" r:id="rId9"/>
    <p:sldId id="264" r:id="rId10"/>
  </p:sldIdLst>
  <p:sldSz cx="12192000" cy="6858000"/>
  <p:notesSz cx="7559675" cy="10691813"/>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73FAFAF-F001-46D4-96BF-A8CA21702E86}" v="133" dt="2026-07-31T05:05:40.916"/>
    <p1510:client id="{966CE947-C496-4D8C-96E7-525907F3C09F}" v="208" dt="2026-07-31T09:36:21.3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3" d="100"/>
          <a:sy n="63" d="100"/>
        </p:scale>
        <p:origin x="948"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6"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276600" cy="536575"/>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281488" y="0"/>
            <a:ext cx="3276600" cy="536575"/>
          </a:xfrm>
          <a:prstGeom prst="rect">
            <a:avLst/>
          </a:prstGeom>
        </p:spPr>
        <p:txBody>
          <a:bodyPr vert="horz" lIns="91440" tIns="45720" rIns="91440" bIns="45720" rtlCol="0"/>
          <a:lstStyle>
            <a:lvl1pPr algn="r">
              <a:defRPr sz="1200"/>
            </a:lvl1pPr>
          </a:lstStyle>
          <a:p>
            <a:fld id="{5B19FE26-6D3C-4D21-A93D-5D16C5FBD67B}" type="datetimeFigureOut">
              <a:t>7/31/2026</a:t>
            </a:fld>
            <a:endParaRPr lang="en-US"/>
          </a:p>
        </p:txBody>
      </p:sp>
      <p:sp>
        <p:nvSpPr>
          <p:cNvPr id="4" name="Slide Image Placeholder 3"/>
          <p:cNvSpPr>
            <a:spLocks noGrp="1" noRot="1" noChangeAspect="1"/>
          </p:cNvSpPr>
          <p:nvPr>
            <p:ph type="sldImg" idx="2"/>
          </p:nvPr>
        </p:nvSpPr>
        <p:spPr>
          <a:xfrm>
            <a:off x="573088" y="1336675"/>
            <a:ext cx="6413500" cy="36083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55650" y="5145088"/>
            <a:ext cx="6048375" cy="42100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10155238"/>
            <a:ext cx="3276600" cy="536575"/>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281488" y="10155238"/>
            <a:ext cx="3276600" cy="536575"/>
          </a:xfrm>
          <a:prstGeom prst="rect">
            <a:avLst/>
          </a:prstGeom>
        </p:spPr>
        <p:txBody>
          <a:bodyPr vert="horz" lIns="91440" tIns="45720" rIns="91440" bIns="45720" rtlCol="0" anchor="b"/>
          <a:lstStyle>
            <a:lvl1pPr algn="r">
              <a:defRPr sz="1200"/>
            </a:lvl1pPr>
          </a:lstStyle>
          <a:p>
            <a:fld id="{5161A1FE-D570-411D-841E-C8EFF439BB3B}" type="slidenum">
              <a:t>‹#›</a:t>
            </a:fld>
            <a:endParaRPr lang="en-US"/>
          </a:p>
        </p:txBody>
      </p:sp>
    </p:spTree>
    <p:extLst>
      <p:ext uri="{BB962C8B-B14F-4D97-AF65-F5344CB8AC3E}">
        <p14:creationId xmlns:p14="http://schemas.microsoft.com/office/powerpoint/2010/main" val="142027388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Cloud adoption has grown rapidly, but with that growth comes increased security complexity. A single misconfigured IAM role or publicly accessible storage bucket can expose critical assets. Existing tools detect these issues individually, but they often don't explain how an attacker could combine them to compromise the environment. Our work, </a:t>
            </a:r>
            <a:r>
              <a:rPr lang="en-US" dirty="0" err="1"/>
              <a:t>CloudSentinel</a:t>
            </a:r>
            <a:r>
              <a:rPr lang="en-US" dirty="0"/>
              <a:t> AI, addresses this challenge by using knowledge graphs, attack graphs, and Explainable AI to provide context-aware risk analysis and practical remediation recommendations.</a:t>
            </a:r>
          </a:p>
        </p:txBody>
      </p:sp>
      <p:sp>
        <p:nvSpPr>
          <p:cNvPr id="4" name="Slide Number Placeholder 3"/>
          <p:cNvSpPr>
            <a:spLocks noGrp="1"/>
          </p:cNvSpPr>
          <p:nvPr>
            <p:ph type="sldNum" sz="quarter" idx="5"/>
          </p:nvPr>
        </p:nvSpPr>
        <p:spPr/>
        <p:txBody>
          <a:bodyPr/>
          <a:lstStyle/>
          <a:p>
            <a:fld id="{5161A1FE-D570-411D-841E-C8EFF439BB3B}" type="slidenum">
              <a:t>3</a:t>
            </a:fld>
            <a:endParaRPr lang="en-US"/>
          </a:p>
        </p:txBody>
      </p:sp>
    </p:spTree>
    <p:extLst>
      <p:ext uri="{BB962C8B-B14F-4D97-AF65-F5344CB8AC3E}">
        <p14:creationId xmlns:p14="http://schemas.microsoft.com/office/powerpoint/2010/main" val="32379790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Several commercial and open-source cloud security tools are available today. AWS Security Hub, Amazon Inspector, Prowler, and </a:t>
            </a:r>
            <a:r>
              <a:rPr lang="en-US" dirty="0" err="1"/>
              <a:t>ScoutSuite</a:t>
            </a:r>
            <a:r>
              <a:rPr lang="en-US" dirty="0"/>
              <a:t> are widely used for identifying security issues and compliance violations. However, these tools primarily report individual findings and do not analyze how multiple misconfigurations can be chained together to form an attack path. Recent research has explored knowledge graphs for cloud security, but comprehensive frameworks that combine knowledge graphs, attack graph analysis, context-aware risk assessment, and Explainable AI remain limited. This research aims to bridge that gap.</a:t>
            </a:r>
          </a:p>
        </p:txBody>
      </p:sp>
      <p:sp>
        <p:nvSpPr>
          <p:cNvPr id="4" name="Slide Number Placeholder 3"/>
          <p:cNvSpPr>
            <a:spLocks noGrp="1"/>
          </p:cNvSpPr>
          <p:nvPr>
            <p:ph type="sldNum" sz="quarter" idx="5"/>
          </p:nvPr>
        </p:nvSpPr>
        <p:spPr/>
        <p:txBody>
          <a:bodyPr/>
          <a:lstStyle/>
          <a:p>
            <a:fld id="{5161A1FE-D570-411D-841E-C8EFF439BB3B}" type="slidenum">
              <a:t>4</a:t>
            </a:fld>
            <a:endParaRPr lang="en-US"/>
          </a:p>
        </p:txBody>
      </p:sp>
    </p:spTree>
    <p:extLst>
      <p:ext uri="{BB962C8B-B14F-4D97-AF65-F5344CB8AC3E}">
        <p14:creationId xmlns:p14="http://schemas.microsoft.com/office/powerpoint/2010/main" val="14469460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cloud environments continue to grow, the number of interconnected resources also increases. A single misconfiguration may not seem critical on its own, but when combined with other weaknesses, it can create an attack path that allows an attacker to reach sensitive assets. Current CSPM solutions are effective at identifying individual issues, but they often lack contextual analysis and do not explain how these issues relate to one another. </a:t>
            </a:r>
            <a:r>
              <a:rPr lang="en-US" dirty="0" err="1"/>
              <a:t>CloudSentinel</a:t>
            </a:r>
            <a:r>
              <a:rPr lang="en-US" dirty="0"/>
              <a:t> AI is designed to bridge this gap by integrating knowledge graphs, attack graph analysis, context-aware risk scoring, and Explainable AI to help security teams understand, prioritize, and remediate cloud security risks more effectively.</a:t>
            </a:r>
          </a:p>
        </p:txBody>
      </p:sp>
      <p:sp>
        <p:nvSpPr>
          <p:cNvPr id="4" name="Slide Number Placeholder 3"/>
          <p:cNvSpPr>
            <a:spLocks noGrp="1"/>
          </p:cNvSpPr>
          <p:nvPr>
            <p:ph type="sldNum" sz="quarter" idx="5"/>
          </p:nvPr>
        </p:nvSpPr>
        <p:spPr/>
        <p:txBody>
          <a:bodyPr/>
          <a:lstStyle/>
          <a:p>
            <a:fld id="{5161A1FE-D570-411D-841E-C8EFF439BB3B}" type="slidenum">
              <a:t>5</a:t>
            </a:fld>
            <a:endParaRPr lang="en-US"/>
          </a:p>
        </p:txBody>
      </p:sp>
    </p:spTree>
    <p:extLst>
      <p:ext uri="{BB962C8B-B14F-4D97-AF65-F5344CB8AC3E}">
        <p14:creationId xmlns:p14="http://schemas.microsoft.com/office/powerpoint/2010/main" val="27635097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primary objective of this research is to develop an intelligent cloud security framework that goes beyond traditional misconfiguration detection. The framework models cloud resources as a knowledge graph, derives attack graphs to identify possible attack paths, assesses risks based on contextual relationships, and uses Explainable AI to generate understandable recommendations. Finally, the framework is evaluated in an AWS environment to validate its effectiveness.</a:t>
            </a:r>
          </a:p>
        </p:txBody>
      </p:sp>
      <p:sp>
        <p:nvSpPr>
          <p:cNvPr id="4" name="Slide Number Placeholder 3"/>
          <p:cNvSpPr>
            <a:spLocks noGrp="1"/>
          </p:cNvSpPr>
          <p:nvPr>
            <p:ph type="sldNum" sz="quarter" idx="5"/>
          </p:nvPr>
        </p:nvSpPr>
        <p:spPr/>
        <p:txBody>
          <a:bodyPr/>
          <a:lstStyle/>
          <a:p>
            <a:fld id="{5161A1FE-D570-411D-841E-C8EFF439BB3B}" type="slidenum">
              <a:t>6</a:t>
            </a:fld>
            <a:endParaRPr lang="en-US"/>
          </a:p>
        </p:txBody>
      </p:sp>
    </p:spTree>
    <p:extLst>
      <p:ext uri="{BB962C8B-B14F-4D97-AF65-F5344CB8AC3E}">
        <p14:creationId xmlns:p14="http://schemas.microsoft.com/office/powerpoint/2010/main" val="384640360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presents the overall methodology of </a:t>
            </a:r>
            <a:r>
              <a:rPr lang="en-US" dirty="0" err="1"/>
              <a:t>CloudSentinel</a:t>
            </a:r>
            <a:r>
              <a:rPr lang="en-US" dirty="0"/>
              <a:t> AI. The framework begins by collecting cloud asset and configuration data from AWS services. The collected information is analyzed to detect security misconfigurations and compliance issues. Next, a Knowledge Graph is constructed to model relationships among cloud resources. Using this graph, the framework generates Attack Graphs to identify possible attack paths, privilege escalation opportunities, and lateral movement. A context-aware risk assessment engine then prioritizes findings based on exploitability and business impact. Finally, an Explainable AI module generates clear remediation recommendations, and the results are presented through an interactive dashboard and security reports</a:t>
            </a:r>
          </a:p>
        </p:txBody>
      </p:sp>
      <p:sp>
        <p:nvSpPr>
          <p:cNvPr id="4" name="Slide Number Placeholder 3"/>
          <p:cNvSpPr>
            <a:spLocks noGrp="1"/>
          </p:cNvSpPr>
          <p:nvPr>
            <p:ph type="sldNum" sz="quarter" idx="5"/>
          </p:nvPr>
        </p:nvSpPr>
        <p:spPr/>
        <p:txBody>
          <a:bodyPr/>
          <a:lstStyle/>
          <a:p>
            <a:fld id="{5161A1FE-D570-411D-841E-C8EFF439BB3B}" type="slidenum">
              <a:t>7</a:t>
            </a:fld>
            <a:endParaRPr lang="en-US"/>
          </a:p>
        </p:txBody>
      </p:sp>
    </p:spTree>
    <p:extLst>
      <p:ext uri="{BB962C8B-B14F-4D97-AF65-F5344CB8AC3E}">
        <p14:creationId xmlns:p14="http://schemas.microsoft.com/office/powerpoint/2010/main" val="2910742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references include international security standards, AWS best practices, graph database documentation, artificial intelligence resources, and recent cloud security literature. They provide the theoretical and technical foundation for the proposed </a:t>
            </a:r>
            <a:r>
              <a:rPr lang="en-US" dirty="0" err="1"/>
              <a:t>CloudSentinel</a:t>
            </a:r>
            <a:r>
              <a:rPr lang="en-US" dirty="0"/>
              <a:t> AI framework.</a:t>
            </a:r>
          </a:p>
        </p:txBody>
      </p:sp>
      <p:sp>
        <p:nvSpPr>
          <p:cNvPr id="4" name="Slide Number Placeholder 3"/>
          <p:cNvSpPr>
            <a:spLocks noGrp="1"/>
          </p:cNvSpPr>
          <p:nvPr>
            <p:ph type="sldNum" sz="quarter" idx="5"/>
          </p:nvPr>
        </p:nvSpPr>
        <p:spPr/>
        <p:txBody>
          <a:bodyPr/>
          <a:lstStyle/>
          <a:p>
            <a:fld id="{5161A1FE-D570-411D-841E-C8EFF439BB3B}" type="slidenum">
              <a:t>8</a:t>
            </a:fld>
            <a:endParaRPr lang="en-US"/>
          </a:p>
        </p:txBody>
      </p:sp>
    </p:spTree>
    <p:extLst>
      <p:ext uri="{BB962C8B-B14F-4D97-AF65-F5344CB8AC3E}">
        <p14:creationId xmlns:p14="http://schemas.microsoft.com/office/powerpoint/2010/main" val="3762443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lstStyle/>
          <a:p>
            <a:r>
              <a:t>Footer</a:t>
            </a:r>
          </a:p>
        </p:txBody>
      </p:sp>
      <p:sp>
        <p:nvSpPr>
          <p:cNvPr id="3" name="PlaceHolder 2"/>
          <p:cNvSpPr>
            <a:spLocks noGrp="1"/>
          </p:cNvSpPr>
          <p:nvPr>
            <p:ph type="sldNum" idx="2"/>
          </p:nvPr>
        </p:nvSpPr>
        <p:spPr/>
        <p:txBody>
          <a:bodyPr/>
          <a:lstStyle/>
          <a:p>
            <a:fld id="{F6DE0ACA-03BC-46D6-9D4D-3FE672280FD2}" type="slidenum">
              <a:t>‹#›</a:t>
            </a:fld>
            <a:endParaRPr/>
          </a:p>
        </p:txBody>
      </p:sp>
      <p:sp>
        <p:nvSpPr>
          <p:cNvPr id="4" name="PlaceHolder 3"/>
          <p:cNvSpPr>
            <a:spLocks noGrp="1"/>
          </p:cNvSpPr>
          <p:nvPr>
            <p:ph type="dt" idx="3"/>
          </p:nvPr>
        </p:nvSpPr>
        <p:spPr/>
        <p:txBody>
          <a:body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7" name="PlaceHolder 2"/>
          <p:cNvSpPr>
            <a:spLocks noGrp="1"/>
          </p:cNvSpPr>
          <p:nvPr>
            <p:ph type="subTitle"/>
          </p:nvPr>
        </p:nvSpPr>
        <p:spPr>
          <a:xfrm>
            <a:off x="609480" y="1604520"/>
            <a:ext cx="10972440" cy="3977280"/>
          </a:xfrm>
          <a:prstGeom prst="rect">
            <a:avLst/>
          </a:prstGeom>
          <a:noFill/>
          <a:ln w="0">
            <a:noFill/>
          </a:ln>
        </p:spPr>
        <p:txBody>
          <a:bodyPr lIns="0" tIns="0" rIns="0" bIns="0" anchor="ctr">
            <a:noAutofit/>
          </a:bodyPr>
          <a:lstStyle/>
          <a:p>
            <a:pPr indent="0" algn="ctr">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6B932CF5-990D-4109-834E-B5F479C67FEC}" type="slidenum">
              <a:t>‹#›</a:t>
            </a:fld>
            <a:endParaRPr/>
          </a:p>
        </p:txBody>
      </p:sp>
      <p:sp>
        <p:nvSpPr>
          <p:cNvPr id="2" name="PlaceHolder 5"/>
          <p:cNvSpPr>
            <a:spLocks noGrp="1"/>
          </p:cNvSpPr>
          <p:nvPr>
            <p:ph type="dt" idx="3"/>
          </p:nvPr>
        </p:nvSpPr>
        <p:spPr/>
        <p:txBody>
          <a:body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8"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9" name="PlaceHolder 2"/>
          <p:cNvSpPr>
            <a:spLocks noGrp="1"/>
          </p:cNvSpPr>
          <p:nvPr>
            <p:ph/>
          </p:nvPr>
        </p:nvSpPr>
        <p:spPr>
          <a:xfrm>
            <a:off x="609480" y="1604520"/>
            <a:ext cx="1097244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 name="PlaceHolder 3"/>
          <p:cNvSpPr>
            <a:spLocks noGrp="1"/>
          </p:cNvSpPr>
          <p:nvPr>
            <p:ph type="ftr" idx="1"/>
          </p:nvPr>
        </p:nvSpPr>
        <p:spPr/>
        <p:txBody>
          <a:bodyPr/>
          <a:lstStyle/>
          <a:p>
            <a:r>
              <a:t>Footer</a:t>
            </a:r>
          </a:p>
        </p:txBody>
      </p:sp>
      <p:sp>
        <p:nvSpPr>
          <p:cNvPr id="5" name="PlaceHolder 4"/>
          <p:cNvSpPr>
            <a:spLocks noGrp="1"/>
          </p:cNvSpPr>
          <p:nvPr>
            <p:ph type="sldNum" idx="2"/>
          </p:nvPr>
        </p:nvSpPr>
        <p:spPr/>
        <p:txBody>
          <a:bodyPr/>
          <a:lstStyle/>
          <a:p>
            <a:fld id="{20111CD9-D0AF-457D-9A4F-98FC04BC9A31}" type="slidenum">
              <a:t>‹#›</a:t>
            </a:fld>
            <a:endParaRPr/>
          </a:p>
        </p:txBody>
      </p:sp>
      <p:sp>
        <p:nvSpPr>
          <p:cNvPr id="6" name="PlaceHolder 5"/>
          <p:cNvSpPr>
            <a:spLocks noGrp="1"/>
          </p:cNvSpPr>
          <p:nvPr>
            <p:ph type="dt" idx="3"/>
          </p:nvPr>
        </p:nvSpPr>
        <p:spPr/>
        <p:txBody>
          <a:body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1"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2"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6F803718-B8BF-497F-A984-712BA1ED5D22}"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4C4CC7DF-1A0F-4CAC-8445-C88DCF9CF90E}"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4" name="PlaceHolder 1"/>
          <p:cNvSpPr>
            <a:spLocks noGrp="1"/>
          </p:cNvSpPr>
          <p:nvPr>
            <p:ph type="subTitle"/>
          </p:nvPr>
        </p:nvSpPr>
        <p:spPr>
          <a:xfrm>
            <a:off x="609480" y="273600"/>
            <a:ext cx="10972440" cy="5307840"/>
          </a:xfrm>
          <a:prstGeom prst="rect">
            <a:avLst/>
          </a:prstGeom>
          <a:noFill/>
          <a:ln w="0">
            <a:noFill/>
          </a:ln>
        </p:spPr>
        <p:txBody>
          <a:bodyPr lIns="0" tIns="0" rIns="0" bIns="0" anchor="ctr">
            <a:noAutofit/>
          </a:bodyPr>
          <a:lstStyle/>
          <a:p>
            <a:pPr algn="ctr"/>
            <a:endParaRPr lang="en-IN" sz="3200" b="0" strike="noStrike" spc="-1">
              <a:solidFill>
                <a:srgbClr val="000000"/>
              </a:solidFill>
              <a:latin typeface="Arial"/>
            </a:endParaRPr>
          </a:p>
        </p:txBody>
      </p:sp>
      <p:sp>
        <p:nvSpPr>
          <p:cNvPr id="3" name="PlaceHolder 2"/>
          <p:cNvSpPr>
            <a:spLocks noGrp="1"/>
          </p:cNvSpPr>
          <p:nvPr>
            <p:ph type="ftr" idx="1"/>
          </p:nvPr>
        </p:nvSpPr>
        <p:spPr/>
        <p:txBody>
          <a:bodyPr/>
          <a:lstStyle/>
          <a:p>
            <a:r>
              <a:t>Footer</a:t>
            </a:r>
          </a:p>
        </p:txBody>
      </p:sp>
      <p:sp>
        <p:nvSpPr>
          <p:cNvPr id="4" name="PlaceHolder 3"/>
          <p:cNvSpPr>
            <a:spLocks noGrp="1"/>
          </p:cNvSpPr>
          <p:nvPr>
            <p:ph type="sldNum" idx="2"/>
          </p:nvPr>
        </p:nvSpPr>
        <p:spPr/>
        <p:txBody>
          <a:bodyPr/>
          <a:lstStyle/>
          <a:p>
            <a:fld id="{DFF3E4A3-4C94-4785-A0E6-29AA5BBC5DE4}" type="slidenum">
              <a:t>‹#›</a:t>
            </a:fld>
            <a:endParaRPr/>
          </a:p>
        </p:txBody>
      </p:sp>
      <p:sp>
        <p:nvSpPr>
          <p:cNvPr id="5" name="PlaceHolder 4"/>
          <p:cNvSpPr>
            <a:spLocks noGrp="1"/>
          </p:cNvSpPr>
          <p:nvPr>
            <p:ph type="dt" idx="3"/>
          </p:nvPr>
        </p:nvSpPr>
        <p:spPr/>
        <p:txBody>
          <a:body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16"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7" name="PlaceHolder 3"/>
          <p:cNvSpPr>
            <a:spLocks noGrp="1"/>
          </p:cNvSpPr>
          <p:nvPr>
            <p:ph/>
          </p:nvPr>
        </p:nvSpPr>
        <p:spPr>
          <a:xfrm>
            <a:off x="6231960" y="1604520"/>
            <a:ext cx="535428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18"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21731DF4-7314-4F43-ADF2-78EF8CAAEF2D}"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0" name="PlaceHolder 2"/>
          <p:cNvSpPr>
            <a:spLocks noGrp="1"/>
          </p:cNvSpPr>
          <p:nvPr>
            <p:ph/>
          </p:nvPr>
        </p:nvSpPr>
        <p:spPr>
          <a:xfrm>
            <a:off x="609480" y="1604520"/>
            <a:ext cx="5354280" cy="397728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1"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2" name="PlaceHolder 4"/>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E1AC3676-484E-4704-B7A7-7DB709AE2100}"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4"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5"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6" name="PlaceHolder 4"/>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6" name="PlaceHolder 5"/>
          <p:cNvSpPr>
            <a:spLocks noGrp="1"/>
          </p:cNvSpPr>
          <p:nvPr>
            <p:ph type="ftr" idx="1"/>
          </p:nvPr>
        </p:nvSpPr>
        <p:spPr/>
        <p:txBody>
          <a:bodyPr/>
          <a:lstStyle/>
          <a:p>
            <a:r>
              <a:t>Footer</a:t>
            </a:r>
          </a:p>
        </p:txBody>
      </p:sp>
      <p:sp>
        <p:nvSpPr>
          <p:cNvPr id="7" name="PlaceHolder 6"/>
          <p:cNvSpPr>
            <a:spLocks noGrp="1"/>
          </p:cNvSpPr>
          <p:nvPr>
            <p:ph type="sldNum" idx="2"/>
          </p:nvPr>
        </p:nvSpPr>
        <p:spPr/>
        <p:txBody>
          <a:bodyPr/>
          <a:lstStyle/>
          <a:p>
            <a:fld id="{CECAE218-CAC7-47E3-A7FE-2C38C494088F}" type="slidenum">
              <a:t>‹#›</a:t>
            </a:fld>
            <a:endParaRPr/>
          </a:p>
        </p:txBody>
      </p:sp>
      <p:sp>
        <p:nvSpPr>
          <p:cNvPr id="8" name="PlaceHolder 7"/>
          <p:cNvSpPr>
            <a:spLocks noGrp="1"/>
          </p:cNvSpPr>
          <p:nvPr>
            <p:ph type="dt" idx="3"/>
          </p:nvPr>
        </p:nvSpPr>
        <p:spPr/>
        <p:txBody>
          <a:body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28" name="PlaceHolder 2"/>
          <p:cNvSpPr>
            <a:spLocks noGrp="1"/>
          </p:cNvSpPr>
          <p:nvPr>
            <p:ph/>
          </p:nvPr>
        </p:nvSpPr>
        <p:spPr>
          <a:xfrm>
            <a:off x="609480" y="1604520"/>
            <a:ext cx="109724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29" name="PlaceHolder 3"/>
          <p:cNvSpPr>
            <a:spLocks noGrp="1"/>
          </p:cNvSpPr>
          <p:nvPr>
            <p:ph/>
          </p:nvPr>
        </p:nvSpPr>
        <p:spPr>
          <a:xfrm>
            <a:off x="609480" y="3682080"/>
            <a:ext cx="109724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5" name="PlaceHolder 4"/>
          <p:cNvSpPr>
            <a:spLocks noGrp="1"/>
          </p:cNvSpPr>
          <p:nvPr>
            <p:ph type="ftr" idx="1"/>
          </p:nvPr>
        </p:nvSpPr>
        <p:spPr/>
        <p:txBody>
          <a:bodyPr/>
          <a:lstStyle/>
          <a:p>
            <a:r>
              <a:t>Footer</a:t>
            </a:r>
          </a:p>
        </p:txBody>
      </p:sp>
      <p:sp>
        <p:nvSpPr>
          <p:cNvPr id="6" name="PlaceHolder 5"/>
          <p:cNvSpPr>
            <a:spLocks noGrp="1"/>
          </p:cNvSpPr>
          <p:nvPr>
            <p:ph type="sldNum" idx="2"/>
          </p:nvPr>
        </p:nvSpPr>
        <p:spPr/>
        <p:txBody>
          <a:bodyPr/>
          <a:lstStyle/>
          <a:p>
            <a:fld id="{02D5E523-FFA3-4105-8C15-30B5DC71F893}" type="slidenum">
              <a:t>‹#›</a:t>
            </a:fld>
            <a:endParaRPr/>
          </a:p>
        </p:txBody>
      </p:sp>
      <p:sp>
        <p:nvSpPr>
          <p:cNvPr id="7" name="PlaceHolder 6"/>
          <p:cNvSpPr>
            <a:spLocks noGrp="1"/>
          </p:cNvSpPr>
          <p:nvPr>
            <p:ph type="dt" idx="3"/>
          </p:nvPr>
        </p:nvSpPr>
        <p:spPr/>
        <p:txBody>
          <a:body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30"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1" name="PlaceHolder 2"/>
          <p:cNvSpPr>
            <a:spLocks noGrp="1"/>
          </p:cNvSpPr>
          <p:nvPr>
            <p:ph/>
          </p:nvPr>
        </p:nvSpPr>
        <p:spPr>
          <a:xfrm>
            <a:off x="609480" y="160452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2" name="PlaceHolder 3"/>
          <p:cNvSpPr>
            <a:spLocks noGrp="1"/>
          </p:cNvSpPr>
          <p:nvPr>
            <p:ph/>
          </p:nvPr>
        </p:nvSpPr>
        <p:spPr>
          <a:xfrm>
            <a:off x="6231960" y="160452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3" name="PlaceHolder 4"/>
          <p:cNvSpPr>
            <a:spLocks noGrp="1"/>
          </p:cNvSpPr>
          <p:nvPr>
            <p:ph/>
          </p:nvPr>
        </p:nvSpPr>
        <p:spPr>
          <a:xfrm>
            <a:off x="609480" y="368208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4" name="PlaceHolder 5"/>
          <p:cNvSpPr>
            <a:spLocks noGrp="1"/>
          </p:cNvSpPr>
          <p:nvPr>
            <p:ph/>
          </p:nvPr>
        </p:nvSpPr>
        <p:spPr>
          <a:xfrm>
            <a:off x="6231960" y="3682080"/>
            <a:ext cx="535428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7" name="PlaceHolder 6"/>
          <p:cNvSpPr>
            <a:spLocks noGrp="1"/>
          </p:cNvSpPr>
          <p:nvPr>
            <p:ph type="ftr" idx="1"/>
          </p:nvPr>
        </p:nvSpPr>
        <p:spPr/>
        <p:txBody>
          <a:bodyPr/>
          <a:lstStyle/>
          <a:p>
            <a:r>
              <a:t>Footer</a:t>
            </a:r>
          </a:p>
        </p:txBody>
      </p:sp>
      <p:sp>
        <p:nvSpPr>
          <p:cNvPr id="8" name="PlaceHolder 7"/>
          <p:cNvSpPr>
            <a:spLocks noGrp="1"/>
          </p:cNvSpPr>
          <p:nvPr>
            <p:ph type="sldNum" idx="2"/>
          </p:nvPr>
        </p:nvSpPr>
        <p:spPr/>
        <p:txBody>
          <a:bodyPr/>
          <a:lstStyle/>
          <a:p>
            <a:fld id="{35DD45FD-2B75-46F3-8500-1CA3B0C5D658}" type="slidenum">
              <a:t>‹#›</a:t>
            </a:fld>
            <a:endParaRPr/>
          </a:p>
        </p:txBody>
      </p:sp>
      <p:sp>
        <p:nvSpPr>
          <p:cNvPr id="9" name="PlaceHolder 8"/>
          <p:cNvSpPr>
            <a:spLocks noGrp="1"/>
          </p:cNvSpPr>
          <p:nvPr>
            <p:ph type="dt" idx="3"/>
          </p:nvPr>
        </p:nvSpPr>
        <p:spPr/>
        <p:txBody>
          <a:body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5"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endParaRPr lang="en-IN" sz="4400" b="0" strike="noStrike" spc="-1">
              <a:solidFill>
                <a:srgbClr val="000000"/>
              </a:solidFill>
              <a:latin typeface="Arial"/>
            </a:endParaRPr>
          </a:p>
        </p:txBody>
      </p:sp>
      <p:sp>
        <p:nvSpPr>
          <p:cNvPr id="36" name="PlaceHolder 2"/>
          <p:cNvSpPr>
            <a:spLocks noGrp="1"/>
          </p:cNvSpPr>
          <p:nvPr>
            <p:ph/>
          </p:nvPr>
        </p:nvSpPr>
        <p:spPr>
          <a:xfrm>
            <a:off x="609480" y="1604520"/>
            <a:ext cx="35330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7" name="PlaceHolder 3"/>
          <p:cNvSpPr>
            <a:spLocks noGrp="1"/>
          </p:cNvSpPr>
          <p:nvPr>
            <p:ph/>
          </p:nvPr>
        </p:nvSpPr>
        <p:spPr>
          <a:xfrm>
            <a:off x="4319640" y="1604520"/>
            <a:ext cx="35330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8" name="PlaceHolder 4"/>
          <p:cNvSpPr>
            <a:spLocks noGrp="1"/>
          </p:cNvSpPr>
          <p:nvPr>
            <p:ph/>
          </p:nvPr>
        </p:nvSpPr>
        <p:spPr>
          <a:xfrm>
            <a:off x="8029800" y="1604520"/>
            <a:ext cx="35330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39" name="PlaceHolder 5"/>
          <p:cNvSpPr>
            <a:spLocks noGrp="1"/>
          </p:cNvSpPr>
          <p:nvPr>
            <p:ph/>
          </p:nvPr>
        </p:nvSpPr>
        <p:spPr>
          <a:xfrm>
            <a:off x="609480" y="3682080"/>
            <a:ext cx="35330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0" name="PlaceHolder 6"/>
          <p:cNvSpPr>
            <a:spLocks noGrp="1"/>
          </p:cNvSpPr>
          <p:nvPr>
            <p:ph/>
          </p:nvPr>
        </p:nvSpPr>
        <p:spPr>
          <a:xfrm>
            <a:off x="4319640" y="3682080"/>
            <a:ext cx="35330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41" name="PlaceHolder 7"/>
          <p:cNvSpPr>
            <a:spLocks noGrp="1"/>
          </p:cNvSpPr>
          <p:nvPr>
            <p:ph/>
          </p:nvPr>
        </p:nvSpPr>
        <p:spPr>
          <a:xfrm>
            <a:off x="8029800" y="3682080"/>
            <a:ext cx="3533040" cy="1896840"/>
          </a:xfrm>
          <a:prstGeom prst="rect">
            <a:avLst/>
          </a:prstGeom>
          <a:noFill/>
          <a:ln w="0">
            <a:noFill/>
          </a:ln>
        </p:spPr>
        <p:txBody>
          <a:bodyPr lIns="0" tIns="0" rIns="0" bIns="0" anchor="t">
            <a:normAutofit/>
          </a:bodyPr>
          <a:lstStyle/>
          <a:p>
            <a:pPr indent="0">
              <a:spcBef>
                <a:spcPts val="1417"/>
              </a:spcBef>
              <a:buNone/>
            </a:pPr>
            <a:endParaRPr lang="en-IN" sz="3200" b="0" strike="noStrike" spc="-1">
              <a:solidFill>
                <a:srgbClr val="000000"/>
              </a:solidFill>
              <a:latin typeface="Arial"/>
            </a:endParaRPr>
          </a:p>
        </p:txBody>
      </p:sp>
      <p:sp>
        <p:nvSpPr>
          <p:cNvPr id="9" name="PlaceHolder 8"/>
          <p:cNvSpPr>
            <a:spLocks noGrp="1"/>
          </p:cNvSpPr>
          <p:nvPr>
            <p:ph type="ftr" idx="1"/>
          </p:nvPr>
        </p:nvSpPr>
        <p:spPr/>
        <p:txBody>
          <a:bodyPr/>
          <a:lstStyle/>
          <a:p>
            <a:r>
              <a:t>Footer</a:t>
            </a:r>
          </a:p>
        </p:txBody>
      </p:sp>
      <p:sp>
        <p:nvSpPr>
          <p:cNvPr id="10" name="PlaceHolder 9"/>
          <p:cNvSpPr>
            <a:spLocks noGrp="1"/>
          </p:cNvSpPr>
          <p:nvPr>
            <p:ph type="sldNum" idx="2"/>
          </p:nvPr>
        </p:nvSpPr>
        <p:spPr/>
        <p:txBody>
          <a:bodyPr/>
          <a:lstStyle/>
          <a:p>
            <a:fld id="{32FD64C0-15F1-471C-9E50-9DE70748CF53}" type="slidenum">
              <a:t>‹#›</a:t>
            </a:fld>
            <a:endParaRPr/>
          </a:p>
        </p:txBody>
      </p:sp>
      <p:sp>
        <p:nvSpPr>
          <p:cNvPr id="11" name="PlaceHolder 10"/>
          <p:cNvSpPr>
            <a:spLocks noGrp="1"/>
          </p:cNvSpPr>
          <p:nvPr>
            <p:ph type="dt" idx="3"/>
          </p:nvPr>
        </p:nvSpPr>
        <p:spPr/>
        <p:txBody>
          <a:body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Rounded Corners 6"/>
          <p:cNvSpPr/>
          <p:nvPr/>
        </p:nvSpPr>
        <p:spPr>
          <a:xfrm>
            <a:off x="9867960" y="365040"/>
            <a:ext cx="2323440" cy="729360"/>
          </a:xfrm>
          <a:prstGeom prst="roundRect">
            <a:avLst>
              <a:gd name="adj" fmla="val 16667"/>
            </a:avLst>
          </a:prstGeom>
          <a:blipFill rotWithShape="0">
            <a:blip r:embed="rId14"/>
            <a:srcRect/>
            <a:stretch/>
          </a:blipFill>
          <a:ln>
            <a:noFill/>
          </a:ln>
        </p:spPr>
        <p:style>
          <a:lnRef idx="2">
            <a:schemeClr val="accent1">
              <a:shade val="15000"/>
            </a:schemeClr>
          </a:lnRef>
          <a:fillRef idx="1">
            <a:schemeClr val="accent1"/>
          </a:fillRef>
          <a:effectRef idx="0">
            <a:schemeClr val="accent1"/>
          </a:effectRef>
          <a:fontRef idx="minor"/>
        </p:style>
        <p:txBody>
          <a:bodyPr lIns="90000" tIns="45000" rIns="90000" bIns="45000" anchor="ctr">
            <a:noAutofit/>
          </a:bodyPr>
          <a:lstStyle/>
          <a:p>
            <a:pPr algn="ctr">
              <a:lnSpc>
                <a:spcPct val="100000"/>
              </a:lnSpc>
            </a:pPr>
            <a:endParaRPr lang="en-IN" sz="1800" b="0" strike="noStrike" spc="-1">
              <a:solidFill>
                <a:schemeClr val="lt1"/>
              </a:solidFill>
              <a:latin typeface="Calibri"/>
              <a:ea typeface="DejaVu Sans"/>
            </a:endParaRPr>
          </a:p>
        </p:txBody>
      </p:sp>
      <p:sp>
        <p:nvSpPr>
          <p:cNvPr id="7" name="PlaceHolder 1"/>
          <p:cNvSpPr>
            <a:spLocks noGrp="1"/>
          </p:cNvSpPr>
          <p:nvPr>
            <p:ph type="ftr" idx="1"/>
          </p:nvPr>
        </p:nvSpPr>
        <p:spPr>
          <a:xfrm>
            <a:off x="4038480" y="6356520"/>
            <a:ext cx="4114080" cy="364320"/>
          </a:xfrm>
          <a:prstGeom prst="rect">
            <a:avLst/>
          </a:prstGeom>
          <a:noFill/>
          <a:ln w="0">
            <a:noFill/>
          </a:ln>
        </p:spPr>
        <p:txBody>
          <a:bodyPr lIns="90000" tIns="45000" rIns="90000" bIns="45000" anchor="ctr">
            <a:noAutofit/>
          </a:bodyPr>
          <a:lstStyle>
            <a:lvl1pPr indent="0" algn="ctr">
              <a:lnSpc>
                <a:spcPct val="100000"/>
              </a:lnSpc>
              <a:buNone/>
              <a:tabLst>
                <a:tab pos="0" algn="l"/>
              </a:tabLst>
              <a:defRPr lang="en-IN" sz="1400" b="0" strike="noStrike" spc="-1">
                <a:solidFill>
                  <a:srgbClr val="000000"/>
                </a:solidFill>
                <a:latin typeface="Times New Roman"/>
              </a:defRPr>
            </a:lvl1pPr>
          </a:lstStyle>
          <a:p>
            <a:pPr indent="0" algn="ctr">
              <a:lnSpc>
                <a:spcPct val="100000"/>
              </a:lnSpc>
              <a:buNone/>
              <a:tabLst>
                <a:tab pos="0" algn="l"/>
              </a:tabLst>
            </a:pPr>
            <a:r>
              <a:rPr lang="en-IN" sz="1400" b="0" strike="noStrike" spc="-1">
                <a:solidFill>
                  <a:srgbClr val="000000"/>
                </a:solidFill>
                <a:latin typeface="Times New Roman"/>
              </a:rPr>
              <a:t> </a:t>
            </a:r>
          </a:p>
        </p:txBody>
      </p:sp>
      <p:sp>
        <p:nvSpPr>
          <p:cNvPr id="2" name="PlaceHolder 2"/>
          <p:cNvSpPr>
            <a:spLocks noGrp="1"/>
          </p:cNvSpPr>
          <p:nvPr>
            <p:ph type="sldNum" idx="2"/>
          </p:nvPr>
        </p:nvSpPr>
        <p:spPr>
          <a:xfrm>
            <a:off x="8610480" y="6356520"/>
            <a:ext cx="2742480" cy="364320"/>
          </a:xfrm>
          <a:prstGeom prst="rect">
            <a:avLst/>
          </a:prstGeom>
          <a:noFill/>
          <a:ln w="0">
            <a:noFill/>
          </a:ln>
        </p:spPr>
        <p:txBody>
          <a:bodyPr lIns="90000" tIns="45000" rIns="90000" bIns="45000" anchor="ctr">
            <a:noAutofit/>
          </a:bodyPr>
          <a:lstStyle>
            <a:lvl1pPr indent="0" algn="r">
              <a:lnSpc>
                <a:spcPct val="100000"/>
              </a:lnSpc>
              <a:buNone/>
              <a:tabLst>
                <a:tab pos="0" algn="l"/>
              </a:tabLst>
              <a:defRPr lang="en-IN" sz="1200" b="0" strike="noStrike" spc="-1">
                <a:solidFill>
                  <a:srgbClr val="8B8B8B"/>
                </a:solidFill>
                <a:latin typeface="Calibri"/>
              </a:defRPr>
            </a:lvl1pPr>
          </a:lstStyle>
          <a:p>
            <a:pPr indent="0" algn="r">
              <a:lnSpc>
                <a:spcPct val="100000"/>
              </a:lnSpc>
              <a:buNone/>
              <a:tabLst>
                <a:tab pos="0" algn="l"/>
              </a:tabLst>
            </a:pPr>
            <a:fld id="{46E93278-1DF5-4FAB-BCA3-32B4116A7B24}" type="slidenum">
              <a:rPr lang="en-IN" sz="1200" b="0" strike="noStrike" spc="-1">
                <a:solidFill>
                  <a:srgbClr val="8B8B8B"/>
                </a:solidFill>
                <a:latin typeface="Calibri"/>
              </a:rPr>
              <a:t>‹#›</a:t>
            </a:fld>
            <a:endParaRPr lang="en-IN" sz="1200" b="0" strike="noStrike" spc="-1">
              <a:solidFill>
                <a:srgbClr val="000000"/>
              </a:solidFill>
              <a:latin typeface="Times New Roman"/>
            </a:endParaRPr>
          </a:p>
        </p:txBody>
      </p:sp>
      <p:sp>
        <p:nvSpPr>
          <p:cNvPr id="3" name="PlaceHolder 3"/>
          <p:cNvSpPr>
            <a:spLocks noGrp="1"/>
          </p:cNvSpPr>
          <p:nvPr>
            <p:ph type="dt" idx="3"/>
          </p:nvPr>
        </p:nvSpPr>
        <p:spPr>
          <a:xfrm>
            <a:off x="838080" y="6356520"/>
            <a:ext cx="2742480" cy="364320"/>
          </a:xfrm>
          <a:prstGeom prst="rect">
            <a:avLst/>
          </a:prstGeom>
          <a:noFill/>
          <a:ln w="0">
            <a:noFill/>
          </a:ln>
        </p:spPr>
        <p:txBody>
          <a:bodyPr lIns="90000" tIns="45000" rIns="90000" bIns="45000" anchor="ctr">
            <a:noAutofit/>
          </a:bodyPr>
          <a:lstStyle>
            <a:lvl1pPr indent="0">
              <a:buNone/>
              <a:defRPr lang="en-IN" sz="1400" b="0" strike="noStrike" spc="-1">
                <a:solidFill>
                  <a:srgbClr val="000000"/>
                </a:solidFill>
                <a:latin typeface="Times New Roman"/>
              </a:defRPr>
            </a:lvl1pPr>
          </a:lstStyle>
          <a:p>
            <a:pPr indent="0">
              <a:buNone/>
            </a:pPr>
            <a:r>
              <a:rPr lang="en-IN" sz="1400" b="0" strike="noStrike" spc="-1">
                <a:solidFill>
                  <a:srgbClr val="000000"/>
                </a:solidFill>
                <a:latin typeface="Times New Roman"/>
              </a:rPr>
              <a:t> </a:t>
            </a:r>
          </a:p>
        </p:txBody>
      </p:sp>
      <p:sp>
        <p:nvSpPr>
          <p:cNvPr id="4"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en-IN" sz="4400" b="0" strike="noStrike" spc="-1">
                <a:solidFill>
                  <a:srgbClr val="000000"/>
                </a:solidFill>
                <a:latin typeface="Arial"/>
              </a:rPr>
              <a:t>Click to edit the title text format</a:t>
            </a:r>
          </a:p>
        </p:txBody>
      </p:sp>
      <p:sp>
        <p:nvSpPr>
          <p:cNvPr id="5"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IN" sz="3200" b="0" strike="noStrike" spc="-1">
                <a:solidFill>
                  <a:srgbClr val="000000"/>
                </a:solidFill>
                <a:latin typeface="Arial"/>
              </a:rPr>
              <a:t>Click to edit the outline text format</a:t>
            </a:r>
          </a:p>
          <a:p>
            <a:pPr marL="864000" lvl="1" indent="-324000">
              <a:spcBef>
                <a:spcPts val="1134"/>
              </a:spcBef>
              <a:buClr>
                <a:srgbClr val="000000"/>
              </a:buClr>
              <a:buSzPct val="75000"/>
              <a:buFont typeface="Symbol" charset="2"/>
              <a:buChar char=""/>
            </a:pPr>
            <a:r>
              <a:rPr lang="en-IN" sz="2800" b="0" strike="noStrike" spc="-1">
                <a:solidFill>
                  <a:srgbClr val="000000"/>
                </a:solidFill>
                <a:latin typeface="Arial"/>
              </a:rPr>
              <a:t>Second Outline Level</a:t>
            </a:r>
          </a:p>
          <a:p>
            <a:pPr marL="1296000" lvl="2" indent="-288000">
              <a:spcBef>
                <a:spcPts val="850"/>
              </a:spcBef>
              <a:buClr>
                <a:srgbClr val="000000"/>
              </a:buClr>
              <a:buSzPct val="45000"/>
              <a:buFont typeface="Wingdings" charset="2"/>
              <a:buChar char=""/>
            </a:pPr>
            <a:r>
              <a:rPr lang="en-IN" sz="2400" b="0" strike="noStrike" spc="-1">
                <a:solidFill>
                  <a:srgbClr val="000000"/>
                </a:solidFill>
                <a:latin typeface="Arial"/>
              </a:rPr>
              <a:t>Third Outline Level</a:t>
            </a:r>
          </a:p>
          <a:p>
            <a:pPr marL="1728000" lvl="3" indent="-216000">
              <a:spcBef>
                <a:spcPts val="567"/>
              </a:spcBef>
              <a:buClr>
                <a:srgbClr val="000000"/>
              </a:buClr>
              <a:buSzPct val="75000"/>
              <a:buFont typeface="Symbol" charset="2"/>
              <a:buChar char=""/>
            </a:pPr>
            <a:r>
              <a:rPr lang="en-IN" sz="2000" b="0" strike="noStrike" spc="-1">
                <a:solidFill>
                  <a:srgbClr val="000000"/>
                </a:solidFill>
                <a:latin typeface="Arial"/>
              </a:rPr>
              <a:t>Fourth Outline Level</a:t>
            </a:r>
          </a:p>
          <a:p>
            <a:pPr marL="2160000" lvl="4" indent="-216000">
              <a:spcBef>
                <a:spcPts val="283"/>
              </a:spcBef>
              <a:buClr>
                <a:srgbClr val="000000"/>
              </a:buClr>
              <a:buSzPct val="45000"/>
              <a:buFont typeface="Wingdings" charset="2"/>
              <a:buChar char=""/>
            </a:pPr>
            <a:r>
              <a:rPr lang="en-IN" sz="2000" b="0" strike="noStrike" spc="-1">
                <a:solidFill>
                  <a:srgbClr val="000000"/>
                </a:solidFill>
                <a:latin typeface="Arial"/>
              </a:rPr>
              <a:t>Fifth Outline Level</a:t>
            </a:r>
          </a:p>
          <a:p>
            <a:pPr marL="2592000" lvl="5" indent="-216000">
              <a:spcBef>
                <a:spcPts val="283"/>
              </a:spcBef>
              <a:buClr>
                <a:srgbClr val="000000"/>
              </a:buClr>
              <a:buSzPct val="45000"/>
              <a:buFont typeface="Wingdings" charset="2"/>
              <a:buChar char=""/>
            </a:pPr>
            <a:r>
              <a:rPr lang="en-IN" sz="2000" b="0" strike="noStrike" spc="-1">
                <a:solidFill>
                  <a:srgbClr val="000000"/>
                </a:solidFill>
                <a:latin typeface="Arial"/>
              </a:rPr>
              <a:t>Sixth Outline Level</a:t>
            </a:r>
          </a:p>
          <a:p>
            <a:pPr marL="3024000" lvl="6" indent="-216000">
              <a:spcBef>
                <a:spcPts val="283"/>
              </a:spcBef>
              <a:buClr>
                <a:srgbClr val="000000"/>
              </a:buClr>
              <a:buSzPct val="45000"/>
              <a:buFont typeface="Wingdings" charset="2"/>
              <a:buChar char=""/>
            </a:pPr>
            <a:r>
              <a:rPr lang="en-IN" sz="2000" b="0" strike="noStrike" spc="-1">
                <a:solidFill>
                  <a:srgbClr val="000000"/>
                </a:solidFill>
                <a:latin typeface="Arial"/>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8" Type="http://schemas.openxmlformats.org/officeDocument/2006/relationships/hyperlink" Target="https://docs.aws.amazon.com/security/" TargetMode="External"/><Relationship Id="rId3" Type="http://schemas.openxmlformats.org/officeDocument/2006/relationships/hyperlink" Target="https://docs.aws.amazon.com/wellarchitected/" TargetMode="External"/><Relationship Id="rId7" Type="http://schemas.openxmlformats.org/officeDocument/2006/relationships/hyperlink" Target="https://aima.cs.berkeley.edu/" TargetMode="External"/><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hyperlink" Target="https://neo4j.com/docs/" TargetMode="External"/><Relationship Id="rId5" Type="http://schemas.openxmlformats.org/officeDocument/2006/relationships/hyperlink" Target="https://www.nist.gov/cyberframework" TargetMode="External"/><Relationship Id="rId4" Type="http://schemas.openxmlformats.org/officeDocument/2006/relationships/hyperlink" Target="https://www.cisecurity.org/benchmark/amazon_web_services" TargetMode="External"/><Relationship Id="rId9" Type="http://schemas.openxmlformats.org/officeDocument/2006/relationships/hyperlink" Target="https://github.com/prowler-cloud/prowler" TargetMode="Externa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PlaceHolder 1"/>
          <p:cNvSpPr>
            <a:spLocks noGrp="1"/>
          </p:cNvSpPr>
          <p:nvPr>
            <p:ph/>
          </p:nvPr>
        </p:nvSpPr>
        <p:spPr>
          <a:xfrm>
            <a:off x="0" y="1537920"/>
            <a:ext cx="12191400" cy="5319360"/>
          </a:xfrm>
          <a:prstGeom prst="rect">
            <a:avLst/>
          </a:prstGeom>
          <a:noFill/>
          <a:ln w="0">
            <a:noFill/>
          </a:ln>
        </p:spPr>
        <p:txBody>
          <a:bodyPr lIns="90000" tIns="45000" rIns="90000" bIns="45000" anchor="t">
            <a:normAutofit/>
          </a:bodyPr>
          <a:lstStyle/>
          <a:p>
            <a:pPr marL="246960" indent="0" algn="ctr">
              <a:lnSpc>
                <a:spcPct val="200000"/>
              </a:lnSpc>
              <a:spcBef>
                <a:spcPts val="1001"/>
              </a:spcBef>
              <a:buNone/>
              <a:tabLst>
                <a:tab pos="0" algn="l"/>
              </a:tabLst>
            </a:pPr>
            <a:endParaRPr lang="en-IN" sz="1800" b="0" strike="noStrike" spc="-1">
              <a:solidFill>
                <a:srgbClr val="000000"/>
              </a:solidFill>
              <a:latin typeface="Arial"/>
            </a:endParaRPr>
          </a:p>
          <a:p>
            <a:pPr marL="246380" indent="0" algn="ctr">
              <a:lnSpc>
                <a:spcPct val="200000"/>
              </a:lnSpc>
              <a:spcBef>
                <a:spcPts val="1001"/>
              </a:spcBef>
              <a:buNone/>
              <a:tabLst>
                <a:tab pos="0" algn="l"/>
              </a:tabLst>
            </a:pPr>
            <a:r>
              <a:rPr lang="en-IN" sz="1800" spc="-1" dirty="0" err="1">
                <a:solidFill>
                  <a:srgbClr val="000000"/>
                </a:solidFill>
                <a:latin typeface="Arial"/>
              </a:rPr>
              <a:t>Murikipudi</a:t>
            </a:r>
            <a:r>
              <a:rPr lang="en-IN" sz="1800" spc="-1" dirty="0">
                <a:solidFill>
                  <a:srgbClr val="000000"/>
                </a:solidFill>
                <a:latin typeface="Arial"/>
              </a:rPr>
              <a:t> Harshith 2310030334</a:t>
            </a:r>
            <a:endParaRPr lang="en-IN" sz="1800" b="0" strike="noStrike" spc="-1" dirty="0">
              <a:latin typeface="Arial"/>
            </a:endParaRPr>
          </a:p>
          <a:p>
            <a:pPr marL="246960" indent="0" algn="just">
              <a:lnSpc>
                <a:spcPct val="200000"/>
              </a:lnSpc>
              <a:spcBef>
                <a:spcPts val="1001"/>
              </a:spcBef>
              <a:buNone/>
              <a:tabLst>
                <a:tab pos="0" algn="l"/>
              </a:tabLst>
            </a:pPr>
            <a:endParaRPr lang="en-IN" sz="1800" b="0" strike="noStrike" spc="-1">
              <a:solidFill>
                <a:srgbClr val="000000"/>
              </a:solidFill>
              <a:latin typeface="Arial"/>
            </a:endParaRPr>
          </a:p>
          <a:p>
            <a:pPr marL="246380" indent="0" algn="ctr">
              <a:lnSpc>
                <a:spcPct val="100000"/>
              </a:lnSpc>
              <a:spcBef>
                <a:spcPts val="1001"/>
              </a:spcBef>
              <a:buNone/>
              <a:tabLst>
                <a:tab pos="0" algn="l"/>
              </a:tabLst>
            </a:pPr>
            <a:endParaRPr lang="en-US" sz="1800" spc="-1" dirty="0">
              <a:solidFill>
                <a:srgbClr val="333333"/>
              </a:solidFill>
              <a:latin typeface="Times New Roman"/>
            </a:endParaRPr>
          </a:p>
          <a:p>
            <a:pPr marL="246380" indent="0" algn="ctr">
              <a:lnSpc>
                <a:spcPct val="100000"/>
              </a:lnSpc>
              <a:spcBef>
                <a:spcPts val="1001"/>
              </a:spcBef>
              <a:buNone/>
              <a:tabLst>
                <a:tab pos="0" algn="l"/>
              </a:tabLst>
            </a:pPr>
            <a:r>
              <a:rPr lang="en-US" sz="1800" b="0" strike="noStrike" spc="-1">
                <a:solidFill>
                  <a:srgbClr val="333333"/>
                </a:solidFill>
                <a:latin typeface="Times New Roman"/>
              </a:rPr>
              <a:t>Under the Guidance </a:t>
            </a:r>
            <a:r>
              <a:rPr lang="en-US" sz="1800" spc="-1">
                <a:solidFill>
                  <a:srgbClr val="333333"/>
                </a:solidFill>
                <a:latin typeface="Times New Roman"/>
              </a:rPr>
              <a:t>of</a:t>
            </a:r>
            <a:endParaRPr lang="en-IN">
              <a:solidFill>
                <a:srgbClr val="000000"/>
              </a:solidFill>
              <a:latin typeface="Arial"/>
              <a:cs typeface="Arial"/>
            </a:endParaRPr>
          </a:p>
          <a:p>
            <a:pPr marL="246380" indent="0" algn="ctr">
              <a:lnSpc>
                <a:spcPct val="100000"/>
              </a:lnSpc>
              <a:spcBef>
                <a:spcPts val="1001"/>
              </a:spcBef>
              <a:buNone/>
              <a:tabLst>
                <a:tab pos="0" algn="l"/>
              </a:tabLst>
            </a:pPr>
            <a:r>
              <a:rPr lang="en-US" sz="1800" b="1" spc="-1">
                <a:solidFill>
                  <a:srgbClr val="333333"/>
                </a:solidFill>
                <a:latin typeface="Arial"/>
                <a:cs typeface="Arial"/>
              </a:rPr>
              <a:t>P</a:t>
            </a:r>
            <a:r>
              <a:rPr lang="en-US" sz="1800" b="1" spc="-1">
                <a:solidFill>
                  <a:srgbClr val="333333"/>
                </a:solidFill>
                <a:ea typeface="+mn-lt"/>
                <a:cs typeface="+mn-lt"/>
              </a:rPr>
              <a:t>. Lalitha Kumari</a:t>
            </a:r>
            <a:endParaRPr lang="en-IN">
              <a:ea typeface="+mn-lt"/>
              <a:cs typeface="+mn-lt"/>
            </a:endParaRPr>
          </a:p>
          <a:p>
            <a:pPr marL="246380" indent="0" algn="ctr">
              <a:lnSpc>
                <a:spcPct val="100000"/>
              </a:lnSpc>
              <a:spcBef>
                <a:spcPts val="1001"/>
              </a:spcBef>
              <a:buNone/>
              <a:tabLst>
                <a:tab pos="0" algn="l"/>
              </a:tabLst>
            </a:pPr>
            <a:r>
              <a:rPr lang="en-US" sz="1800" spc="-1">
                <a:solidFill>
                  <a:srgbClr val="333333"/>
                </a:solidFill>
                <a:ea typeface="+mn-lt"/>
                <a:cs typeface="+mn-lt"/>
              </a:rPr>
              <a:t>Professor </a:t>
            </a:r>
            <a:endParaRPr lang="en-IN">
              <a:ea typeface="+mn-lt"/>
              <a:cs typeface="+mn-lt"/>
            </a:endParaRPr>
          </a:p>
          <a:p>
            <a:pPr marL="246960" indent="0" algn="ctr">
              <a:lnSpc>
                <a:spcPct val="100000"/>
              </a:lnSpc>
              <a:spcBef>
                <a:spcPts val="1001"/>
              </a:spcBef>
              <a:buNone/>
              <a:tabLst>
                <a:tab pos="0" algn="l"/>
              </a:tabLst>
            </a:pPr>
            <a:endParaRPr lang="en-IN" sz="1800" b="0" strike="noStrike" spc="-1">
              <a:solidFill>
                <a:srgbClr val="000000"/>
              </a:solidFill>
              <a:latin typeface="Arial"/>
            </a:endParaRPr>
          </a:p>
          <a:p>
            <a:pPr marL="246380" indent="0" algn="ctr">
              <a:lnSpc>
                <a:spcPct val="90000"/>
              </a:lnSpc>
              <a:spcBef>
                <a:spcPts val="1001"/>
              </a:spcBef>
              <a:buNone/>
              <a:tabLst>
                <a:tab pos="0" algn="l"/>
              </a:tabLst>
            </a:pPr>
            <a:r>
              <a:rPr lang="en-US" sz="2800" b="0" strike="noStrike" spc="-1">
                <a:solidFill>
                  <a:srgbClr val="333333"/>
                </a:solidFill>
                <a:latin typeface="inter-regular"/>
              </a:rPr>
              <a:t>Computer Science and Engineering Department </a:t>
            </a:r>
            <a:endParaRPr lang="en-IN" sz="2800" b="0" strike="noStrike" spc="-1">
              <a:solidFill>
                <a:srgbClr val="000000"/>
              </a:solidFill>
              <a:latin typeface="Arial"/>
            </a:endParaRPr>
          </a:p>
          <a:p>
            <a:pPr marL="246380" indent="0" algn="ctr">
              <a:lnSpc>
                <a:spcPct val="90000"/>
              </a:lnSpc>
              <a:spcBef>
                <a:spcPts val="1001"/>
              </a:spcBef>
              <a:buNone/>
              <a:tabLst>
                <a:tab pos="0" algn="l"/>
              </a:tabLst>
            </a:pPr>
            <a:r>
              <a:rPr lang="en-US" sz="2800" b="0" strike="noStrike" spc="-1">
                <a:solidFill>
                  <a:srgbClr val="333333"/>
                </a:solidFill>
                <a:latin typeface="inter-regular"/>
              </a:rPr>
              <a:t>KL Hyderabad Off Campus, Aziz Nagar ,Hyderabad</a:t>
            </a:r>
            <a:endParaRPr lang="en-IN" sz="2800" b="0" strike="noStrike" spc="-1">
              <a:solidFill>
                <a:srgbClr val="000000"/>
              </a:solidFill>
              <a:latin typeface="Arial"/>
            </a:endParaRPr>
          </a:p>
          <a:p>
            <a:pPr marL="246960" indent="0">
              <a:lnSpc>
                <a:spcPct val="90000"/>
              </a:lnSpc>
              <a:spcBef>
                <a:spcPts val="1001"/>
              </a:spcBef>
              <a:buNone/>
              <a:tabLst>
                <a:tab pos="0" algn="l"/>
              </a:tabLst>
            </a:pPr>
            <a:endParaRPr lang="en-IN" sz="2800" b="0" strike="noStrike" spc="-1">
              <a:solidFill>
                <a:srgbClr val="000000"/>
              </a:solidFill>
              <a:latin typeface="Arial"/>
            </a:endParaRPr>
          </a:p>
        </p:txBody>
      </p:sp>
      <p:sp>
        <p:nvSpPr>
          <p:cNvPr id="43" name="PlaceHolder 2"/>
          <p:cNvSpPr>
            <a:spLocks noGrp="1"/>
          </p:cNvSpPr>
          <p:nvPr>
            <p:ph type="title"/>
          </p:nvPr>
        </p:nvSpPr>
        <p:spPr>
          <a:xfrm>
            <a:off x="0" y="0"/>
            <a:ext cx="12191400" cy="1689840"/>
          </a:xfrm>
          <a:prstGeom prst="rect">
            <a:avLst/>
          </a:prstGeom>
          <a:noFill/>
          <a:ln w="0">
            <a:noFill/>
          </a:ln>
        </p:spPr>
        <p:txBody>
          <a:bodyPr lIns="90000" tIns="45000" rIns="90000" bIns="45000" anchor="ctr">
            <a:normAutofit/>
          </a:bodyPr>
          <a:lstStyle/>
          <a:p>
            <a:pPr algn="ctr">
              <a:tabLst>
                <a:tab pos="0" algn="l"/>
              </a:tabLst>
            </a:pPr>
            <a:r>
              <a:rPr lang="en-US" sz="4000" b="0" strike="noStrike" spc="-1" dirty="0">
                <a:solidFill>
                  <a:srgbClr val="000000"/>
                </a:solidFill>
                <a:latin typeface="Calibri Light"/>
              </a:rPr>
              <a:t>Review-1 on</a:t>
            </a:r>
            <a:br>
              <a:rPr sz="4000" dirty="0"/>
            </a:br>
            <a:r>
              <a:rPr lang="en-IN" sz="4000" b="1" dirty="0" err="1">
                <a:ea typeface="+mj-lt"/>
                <a:cs typeface="+mj-lt"/>
              </a:rPr>
              <a:t>CloudSentinel</a:t>
            </a:r>
            <a:r>
              <a:rPr lang="en-IN" sz="4000" b="1" dirty="0">
                <a:ea typeface="+mj-lt"/>
                <a:cs typeface="+mj-lt"/>
              </a:rPr>
              <a:t> AI</a:t>
            </a:r>
            <a:endParaRPr lang="en-IN" sz="4000" spc="-1" dirty="0">
              <a:ea typeface="+mj-lt"/>
              <a:cs typeface="+mj-lt"/>
            </a:endParaRPr>
          </a:p>
          <a:p>
            <a:pPr indent="0" algn="ctr">
              <a:lnSpc>
                <a:spcPct val="90000"/>
              </a:lnSpc>
              <a:buNone/>
              <a:tabLst>
                <a:tab pos="0" algn="l"/>
              </a:tabLst>
            </a:pPr>
            <a:endParaRPr lang="en-IN" sz="4000" b="0" strike="noStrike" dirty="0"/>
          </a:p>
        </p:txBody>
      </p:sp>
      <p:sp>
        <p:nvSpPr>
          <p:cNvPr id="2" name="TextBox 1">
            <a:extLst>
              <a:ext uri="{FF2B5EF4-FFF2-40B4-BE49-F238E27FC236}">
                <a16:creationId xmlns:a16="http://schemas.microsoft.com/office/drawing/2014/main" id="{52F2BE0E-070A-7779-D2C3-400FFE069CBE}"/>
              </a:ext>
            </a:extLst>
          </p:cNvPr>
          <p:cNvSpPr txBox="1"/>
          <p:nvPr/>
        </p:nvSpPr>
        <p:spPr>
          <a:xfrm>
            <a:off x="3640030" y="2733232"/>
            <a:ext cx="5394257"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TELUGU YESHWANTH RAJ  2310030310</a:t>
            </a:r>
          </a:p>
          <a:p>
            <a:r>
              <a:rPr lang="en-US">
                <a:ea typeface="+mn-lt"/>
                <a:cs typeface="+mn-lt"/>
              </a:rPr>
              <a:t>PULUMAMIDI ABHILASH REDDY 2310030314</a:t>
            </a:r>
          </a:p>
          <a:p>
            <a:r>
              <a:rPr lang="en-US">
                <a:ea typeface="+mn-lt"/>
                <a:cs typeface="+mn-lt"/>
              </a:rPr>
              <a:t>BAGIREDDY  SHASHANK REDDY 2310030347</a:t>
            </a:r>
          </a:p>
          <a:p>
            <a:pPr algn="l"/>
            <a:endParaRPr lang="en-US" dirty="0">
              <a:cs typeface="Arial"/>
            </a:endParaRPr>
          </a:p>
          <a:p>
            <a:endParaRPr lang="en-US" dirty="0">
              <a:cs typeface="Arial"/>
            </a:endParaRPr>
          </a:p>
        </p:txBody>
      </p:sp>
    </p:spTree>
  </p:cSld>
  <p:clrMapOvr>
    <a:masterClrMapping/>
  </p:clrMapOvr>
  <p:timing>
    <p:tnLst>
      <p:par>
        <p:cTn id="1" dur="indefinite" restart="never" nodeType="tmRoot">
          <p:childTnLst>
            <p:seq>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2">
                                            <p:txEl>
                                              <p:pRg st="4" end="4"/>
                                            </p:txEl>
                                          </p:spTgt>
                                        </p:tgtEl>
                                        <p:attrNameLst>
                                          <p:attrName>style.visibility</p:attrName>
                                        </p:attrNameLst>
                                      </p:cBhvr>
                                      <p:to>
                                        <p:strVal val="visible"/>
                                      </p:to>
                                    </p:set>
                                    <p:anim calcmode="lin" valueType="num">
                                      <p:cBhvr additive="repl">
                                        <p:cTn id="7" dur="500" fill="hold"/>
                                        <p:tgtEl>
                                          <p:spTgt spid="42">
                                            <p:txEl>
                                              <p:pRg st="4" end="4"/>
                                            </p:txEl>
                                          </p:spTgt>
                                        </p:tgtEl>
                                        <p:attrNameLst>
                                          <p:attrName>ppt_x</p:attrName>
                                        </p:attrNameLst>
                                      </p:cBhvr>
                                      <p:tavLst>
                                        <p:tav tm="0">
                                          <p:val>
                                            <p:strVal val="#ppt_x"/>
                                          </p:val>
                                        </p:tav>
                                        <p:tav tm="100000">
                                          <p:val>
                                            <p:strVal val="#ppt_x"/>
                                          </p:val>
                                        </p:tav>
                                      </p:tavLst>
                                    </p:anim>
                                    <p:anim calcmode="lin" valueType="num">
                                      <p:cBhvr additive="repl">
                                        <p:cTn id="8" dur="500" fill="hold"/>
                                        <p:tgtEl>
                                          <p:spTgt spid="42">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42">
                                            <p:txEl>
                                              <p:pRg st="5" end="5"/>
                                            </p:txEl>
                                          </p:spTgt>
                                        </p:tgtEl>
                                        <p:attrNameLst>
                                          <p:attrName>style.visibility</p:attrName>
                                        </p:attrNameLst>
                                      </p:cBhvr>
                                      <p:to>
                                        <p:strVal val="visible"/>
                                      </p:to>
                                    </p:set>
                                    <p:anim calcmode="lin" valueType="num">
                                      <p:cBhvr additive="repl">
                                        <p:cTn id="13" dur="500" fill="hold"/>
                                        <p:tgtEl>
                                          <p:spTgt spid="42">
                                            <p:txEl>
                                              <p:pRg st="5" end="5"/>
                                            </p:txEl>
                                          </p:spTgt>
                                        </p:tgtEl>
                                        <p:attrNameLst>
                                          <p:attrName>ppt_x</p:attrName>
                                        </p:attrNameLst>
                                      </p:cBhvr>
                                      <p:tavLst>
                                        <p:tav tm="0">
                                          <p:val>
                                            <p:strVal val="#ppt_x"/>
                                          </p:val>
                                        </p:tav>
                                        <p:tav tm="100000">
                                          <p:val>
                                            <p:strVal val="#ppt_x"/>
                                          </p:val>
                                        </p:tav>
                                      </p:tavLst>
                                    </p:anim>
                                    <p:anim calcmode="lin" valueType="num">
                                      <p:cBhvr additive="repl">
                                        <p:cTn id="14" dur="500" fill="hold"/>
                                        <p:tgtEl>
                                          <p:spTgt spid="42">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42">
                                            <p:txEl>
                                              <p:pRg st="6" end="6"/>
                                            </p:txEl>
                                          </p:spTgt>
                                        </p:tgtEl>
                                        <p:attrNameLst>
                                          <p:attrName>style.visibility</p:attrName>
                                        </p:attrNameLst>
                                      </p:cBhvr>
                                      <p:to>
                                        <p:strVal val="visible"/>
                                      </p:to>
                                    </p:set>
                                    <p:anim calcmode="lin" valueType="num">
                                      <p:cBhvr additive="repl">
                                        <p:cTn id="19" dur="500" fill="hold"/>
                                        <p:tgtEl>
                                          <p:spTgt spid="42">
                                            <p:txEl>
                                              <p:pRg st="6" end="6"/>
                                            </p:txEl>
                                          </p:spTgt>
                                        </p:tgtEl>
                                        <p:attrNameLst>
                                          <p:attrName>ppt_x</p:attrName>
                                        </p:attrNameLst>
                                      </p:cBhvr>
                                      <p:tavLst>
                                        <p:tav tm="0">
                                          <p:val>
                                            <p:strVal val="#ppt_x"/>
                                          </p:val>
                                        </p:tav>
                                        <p:tav tm="100000">
                                          <p:val>
                                            <p:strVal val="#ppt_x"/>
                                          </p:val>
                                        </p:tav>
                                      </p:tavLst>
                                    </p:anim>
                                    <p:anim calcmode="lin" valueType="num">
                                      <p:cBhvr additive="repl">
                                        <p:cTn id="20" dur="500" fill="hold"/>
                                        <p:tgtEl>
                                          <p:spTgt spid="42">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42">
                                            <p:txEl>
                                              <p:pRg st="1" end="1"/>
                                            </p:txEl>
                                          </p:spTgt>
                                        </p:tgtEl>
                                        <p:attrNameLst>
                                          <p:attrName>style.visibility</p:attrName>
                                        </p:attrNameLst>
                                      </p:cBhvr>
                                      <p:to>
                                        <p:strVal val="visible"/>
                                      </p:to>
                                    </p:set>
                                    <p:anim calcmode="lin" valueType="num">
                                      <p:cBhvr additive="repl">
                                        <p:cTn id="25" dur="500" fill="hold"/>
                                        <p:tgtEl>
                                          <p:spTgt spid="42">
                                            <p:txEl>
                                              <p:pRg st="1" end="1"/>
                                            </p:txEl>
                                          </p:spTgt>
                                        </p:tgtEl>
                                        <p:attrNameLst>
                                          <p:attrName>ppt_x</p:attrName>
                                        </p:attrNameLst>
                                      </p:cBhvr>
                                      <p:tavLst>
                                        <p:tav tm="0">
                                          <p:val>
                                            <p:strVal val="#ppt_x"/>
                                          </p:val>
                                        </p:tav>
                                        <p:tav tm="100000">
                                          <p:val>
                                            <p:strVal val="#ppt_x"/>
                                          </p:val>
                                        </p:tav>
                                      </p:tavLst>
                                    </p:anim>
                                    <p:anim calcmode="lin" valueType="num">
                                      <p:cBhvr additive="repl">
                                        <p:cTn id="26" dur="500" fill="hold"/>
                                        <p:tgtEl>
                                          <p:spTgt spid="42">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 name="PlaceHolder 1"/>
          <p:cNvSpPr>
            <a:spLocks noGrp="1"/>
          </p:cNvSpPr>
          <p:nvPr>
            <p:ph type="title"/>
          </p:nvPr>
        </p:nvSpPr>
        <p:spPr>
          <a:xfrm>
            <a:off x="838080" y="365040"/>
            <a:ext cx="10514880" cy="1172160"/>
          </a:xfrm>
          <a:prstGeom prst="rect">
            <a:avLst/>
          </a:prstGeom>
          <a:noFill/>
          <a:ln w="0">
            <a:noFill/>
          </a:ln>
        </p:spPr>
        <p:txBody>
          <a:bodyPr lIns="90000" tIns="45000" rIns="90000" bIns="45000" anchor="ctr">
            <a:noAutofit/>
          </a:bodyPr>
          <a:lstStyle/>
          <a:p>
            <a:pPr indent="0" algn="ctr">
              <a:lnSpc>
                <a:spcPct val="90000"/>
              </a:lnSpc>
              <a:buNone/>
              <a:tabLst>
                <a:tab pos="0" algn="l"/>
              </a:tabLst>
            </a:pPr>
            <a:r>
              <a:rPr lang="en-US" sz="4400" b="0" strike="noStrike" spc="-1">
                <a:solidFill>
                  <a:srgbClr val="000000"/>
                </a:solidFill>
                <a:latin typeface="Calibri Light"/>
              </a:rPr>
              <a:t>Overview</a:t>
            </a:r>
            <a:endParaRPr lang="en-IN" sz="4400" b="0" strike="noStrike" spc="-1">
              <a:solidFill>
                <a:srgbClr val="000000"/>
              </a:solidFill>
              <a:latin typeface="Arial"/>
            </a:endParaRPr>
          </a:p>
        </p:txBody>
      </p:sp>
      <p:sp>
        <p:nvSpPr>
          <p:cNvPr id="45" name="PlaceHolder 2"/>
          <p:cNvSpPr>
            <a:spLocks noGrp="1"/>
          </p:cNvSpPr>
          <p:nvPr>
            <p:ph/>
          </p:nvPr>
        </p:nvSpPr>
        <p:spPr>
          <a:xfrm>
            <a:off x="838080" y="1825560"/>
            <a:ext cx="10514880" cy="4350600"/>
          </a:xfrm>
          <a:prstGeom prst="rect">
            <a:avLst/>
          </a:prstGeom>
          <a:noFill/>
          <a:ln w="0">
            <a:noFill/>
          </a:ln>
        </p:spPr>
        <p:txBody>
          <a:bodyPr lIns="90000" tIns="45000" rIns="90000" bIns="45000" anchor="t">
            <a:normAutofit/>
          </a:bodyPr>
          <a:lstStyle/>
          <a:p>
            <a:pPr marL="228600" indent="-228600">
              <a:lnSpc>
                <a:spcPct val="90000"/>
              </a:lnSpc>
              <a:spcBef>
                <a:spcPts val="1001"/>
              </a:spcBef>
              <a:buClr>
                <a:srgbClr val="000000"/>
              </a:buClr>
              <a:buFont typeface="Arial"/>
              <a:buChar char="•"/>
            </a:pPr>
            <a:r>
              <a:rPr lang="en-US" sz="2400" b="0" strike="noStrike" spc="-1" dirty="0">
                <a:solidFill>
                  <a:srgbClr val="000000"/>
                </a:solidFill>
                <a:latin typeface="Times New Roman"/>
              </a:rPr>
              <a:t>Introduction</a:t>
            </a:r>
            <a:endParaRPr lang="en-IN" sz="2400" b="0" strike="noStrike" spc="-1" dirty="0">
              <a:solidFill>
                <a:srgbClr val="000000"/>
              </a:solidFill>
              <a:latin typeface="Arial"/>
            </a:endParaRPr>
          </a:p>
          <a:p>
            <a:pPr marL="228600" indent="-228600">
              <a:lnSpc>
                <a:spcPct val="90000"/>
              </a:lnSpc>
              <a:spcBef>
                <a:spcPts val="1001"/>
              </a:spcBef>
              <a:buClr>
                <a:srgbClr val="000000"/>
              </a:buClr>
              <a:buFont typeface="Arial"/>
              <a:buChar char="•"/>
            </a:pPr>
            <a:r>
              <a:rPr lang="en-US" sz="2400" b="0" strike="noStrike" spc="-1" dirty="0">
                <a:solidFill>
                  <a:srgbClr val="000000"/>
                </a:solidFill>
                <a:latin typeface="Times New Roman"/>
              </a:rPr>
              <a:t>Literature Review</a:t>
            </a:r>
            <a:endParaRPr lang="en-IN" sz="2400" b="0" strike="noStrike" spc="-1" dirty="0">
              <a:solidFill>
                <a:srgbClr val="000000"/>
              </a:solidFill>
              <a:latin typeface="Arial"/>
            </a:endParaRPr>
          </a:p>
          <a:p>
            <a:pPr marL="228600" indent="-228600">
              <a:lnSpc>
                <a:spcPct val="90000"/>
              </a:lnSpc>
              <a:spcBef>
                <a:spcPts val="1001"/>
              </a:spcBef>
              <a:buClr>
                <a:srgbClr val="000000"/>
              </a:buClr>
              <a:buFont typeface="Arial"/>
              <a:buChar char="•"/>
            </a:pPr>
            <a:r>
              <a:rPr lang="en-US" sz="2400" b="0" strike="noStrike" spc="-1" dirty="0">
                <a:solidFill>
                  <a:srgbClr val="000000"/>
                </a:solidFill>
                <a:latin typeface="Times New Roman"/>
              </a:rPr>
              <a:t>Problem Statement</a:t>
            </a:r>
            <a:endParaRPr lang="en-IN" sz="2400" b="0" strike="noStrike" spc="-1" dirty="0">
              <a:solidFill>
                <a:srgbClr val="000000"/>
              </a:solidFill>
              <a:latin typeface="Arial"/>
            </a:endParaRPr>
          </a:p>
          <a:p>
            <a:pPr marL="228600" indent="-228600">
              <a:lnSpc>
                <a:spcPct val="90000"/>
              </a:lnSpc>
              <a:spcBef>
                <a:spcPts val="1001"/>
              </a:spcBef>
              <a:buClr>
                <a:srgbClr val="000000"/>
              </a:buClr>
              <a:buFont typeface="Arial"/>
              <a:buChar char="•"/>
            </a:pPr>
            <a:r>
              <a:rPr lang="en-US" sz="2400" b="0" strike="noStrike" spc="-1" dirty="0">
                <a:solidFill>
                  <a:srgbClr val="000000"/>
                </a:solidFill>
                <a:latin typeface="Times New Roman"/>
              </a:rPr>
              <a:t>Objectives of the Project</a:t>
            </a:r>
            <a:endParaRPr lang="en-IN" sz="2400" b="0" strike="noStrike" spc="-1" dirty="0">
              <a:solidFill>
                <a:srgbClr val="000000"/>
              </a:solidFill>
              <a:latin typeface="Arial"/>
            </a:endParaRPr>
          </a:p>
          <a:p>
            <a:pPr marL="228600" indent="-228600">
              <a:lnSpc>
                <a:spcPct val="90000"/>
              </a:lnSpc>
              <a:spcBef>
                <a:spcPts val="1001"/>
              </a:spcBef>
              <a:buClr>
                <a:srgbClr val="000000"/>
              </a:buClr>
              <a:buFont typeface="Arial"/>
              <a:buChar char="•"/>
            </a:pPr>
            <a:r>
              <a:rPr lang="en-US" sz="2400" b="0" strike="noStrike" spc="-1" dirty="0">
                <a:solidFill>
                  <a:srgbClr val="000000"/>
                </a:solidFill>
                <a:latin typeface="Times New Roman"/>
              </a:rPr>
              <a:t>Proposed Methodology/Architecture/Algorithm/Technique/</a:t>
            </a:r>
            <a:r>
              <a:rPr lang="en-US" sz="2400" b="0" strike="noStrike" spc="-1" dirty="0" err="1">
                <a:solidFill>
                  <a:srgbClr val="000000"/>
                </a:solidFill>
                <a:latin typeface="Times New Roman"/>
              </a:rPr>
              <a:t>etc</a:t>
            </a:r>
            <a:endParaRPr lang="en-IN" sz="2400" b="0" strike="noStrike" spc="-1" dirty="0">
              <a:solidFill>
                <a:srgbClr val="000000"/>
              </a:solidFill>
              <a:latin typeface="Arial"/>
            </a:endParaRPr>
          </a:p>
          <a:p>
            <a:pPr>
              <a:spcBef>
                <a:spcPts val="1001"/>
              </a:spcBef>
              <a:buClr>
                <a:srgbClr val="000000"/>
              </a:buClr>
              <a:buFont typeface="Arial"/>
              <a:buChar char="•"/>
            </a:pPr>
            <a:r>
              <a:rPr lang="en-US" sz="2400" spc="-1" dirty="0">
                <a:solidFill>
                  <a:srgbClr val="000000"/>
                </a:solidFill>
                <a:latin typeface="Times New Roman"/>
              </a:rPr>
              <a:t>Curre</a:t>
            </a:r>
            <a:r>
              <a:rPr lang="en-US" sz="2400" spc="-1">
                <a:solidFill>
                  <a:srgbClr val="000000"/>
                </a:solidFill>
                <a:latin typeface="Times New Roman"/>
              </a:rPr>
              <a:t>nt Progress</a:t>
            </a:r>
            <a:endParaRPr lang="en-US" sz="2400" spc="-1" dirty="0">
              <a:solidFill>
                <a:srgbClr val="000000"/>
              </a:solidFill>
              <a:latin typeface="Times New Roman"/>
            </a:endParaRPr>
          </a:p>
          <a:p>
            <a:pPr marL="228600" indent="-228600">
              <a:lnSpc>
                <a:spcPct val="90000"/>
              </a:lnSpc>
              <a:spcBef>
                <a:spcPts val="1001"/>
              </a:spcBef>
              <a:buClr>
                <a:srgbClr val="000000"/>
              </a:buClr>
              <a:buFont typeface="Arial"/>
              <a:buChar char="•"/>
            </a:pPr>
            <a:r>
              <a:rPr lang="en-US" sz="2400" b="0" strike="noStrike" spc="-1" dirty="0">
                <a:solidFill>
                  <a:srgbClr val="000000"/>
                </a:solidFill>
                <a:latin typeface="Times New Roman"/>
              </a:rPr>
              <a:t>References</a:t>
            </a:r>
            <a:endParaRPr lang="en-IN" sz="2400" b="0" strike="noStrike" spc="-1" dirty="0">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 name="PlaceHolder 1"/>
          <p:cNvSpPr>
            <a:spLocks noGrp="1"/>
          </p:cNvSpPr>
          <p:nvPr>
            <p:ph type="title"/>
          </p:nvPr>
        </p:nvSpPr>
        <p:spPr>
          <a:xfrm>
            <a:off x="0" y="0"/>
            <a:ext cx="12191400" cy="1324800"/>
          </a:xfrm>
          <a:prstGeom prst="rect">
            <a:avLst/>
          </a:prstGeom>
          <a:noFill/>
          <a:ln w="0">
            <a:noFill/>
          </a:ln>
        </p:spPr>
        <p:txBody>
          <a:bodyPr lIns="90000" tIns="45000" rIns="90000" bIns="45000" anchor="ctr">
            <a:normAutofit/>
          </a:bodyPr>
          <a:lstStyle/>
          <a:p>
            <a:pPr indent="0" algn="ctr">
              <a:lnSpc>
                <a:spcPct val="90000"/>
              </a:lnSpc>
              <a:buNone/>
              <a:tabLst>
                <a:tab pos="0" algn="l"/>
              </a:tabLst>
            </a:pPr>
            <a:r>
              <a:rPr lang="en-US" sz="4000" b="1" strike="noStrike" spc="-1">
                <a:solidFill>
                  <a:srgbClr val="000000"/>
                </a:solidFill>
                <a:latin typeface="Times New Roman"/>
              </a:rPr>
              <a:t>Introduction</a:t>
            </a:r>
            <a:endParaRPr lang="en-IN" sz="4000" b="0" strike="noStrike" spc="-1">
              <a:solidFill>
                <a:srgbClr val="000000"/>
              </a:solidFill>
              <a:latin typeface="Arial"/>
            </a:endParaRPr>
          </a:p>
        </p:txBody>
      </p:sp>
      <p:sp>
        <p:nvSpPr>
          <p:cNvPr id="47" name="PlaceHolder 2"/>
          <p:cNvSpPr>
            <a:spLocks noGrp="1"/>
          </p:cNvSpPr>
          <p:nvPr>
            <p:ph/>
          </p:nvPr>
        </p:nvSpPr>
        <p:spPr>
          <a:xfrm>
            <a:off x="526320" y="1325520"/>
            <a:ext cx="11498400" cy="4850640"/>
          </a:xfrm>
          <a:prstGeom prst="rect">
            <a:avLst/>
          </a:prstGeom>
          <a:noFill/>
          <a:ln w="0">
            <a:noFill/>
          </a:ln>
        </p:spPr>
        <p:txBody>
          <a:bodyPr lIns="90000" tIns="45000" rIns="90000" bIns="45000" anchor="t">
            <a:normAutofit/>
          </a:bodyPr>
          <a:lstStyle/>
          <a:p>
            <a:pPr>
              <a:spcBef>
                <a:spcPts val="1001"/>
              </a:spcBef>
              <a:buClr>
                <a:srgbClr val="000000"/>
              </a:buClr>
              <a:buFont typeface="Arial"/>
              <a:buChar char="•"/>
            </a:pPr>
            <a:r>
              <a:rPr lang="en-US" sz="2400" spc="-1">
                <a:solidFill>
                  <a:srgbClr val="000000"/>
                </a:solidFill>
                <a:ea typeface="+mn-lt"/>
                <a:cs typeface="+mn-lt"/>
              </a:rPr>
              <a:t>Cloud computing has become the backbone of modern applications due to its scalability, flexibility, and cost-effectiveness.</a:t>
            </a:r>
            <a:endParaRPr lang="en-US" sz="2400" spc="-1" dirty="0">
              <a:solidFill>
                <a:srgbClr val="000000"/>
              </a:solidFill>
              <a:ea typeface="+mn-lt"/>
              <a:cs typeface="+mn-lt"/>
            </a:endParaRPr>
          </a:p>
          <a:p>
            <a:pPr>
              <a:spcBef>
                <a:spcPts val="1001"/>
              </a:spcBef>
              <a:buClr>
                <a:srgbClr val="000000"/>
              </a:buClr>
              <a:buFont typeface="Arial"/>
              <a:buChar char="•"/>
            </a:pPr>
            <a:r>
              <a:rPr lang="en-US" sz="2400" spc="-1">
                <a:solidFill>
                  <a:srgbClr val="000000"/>
                </a:solidFill>
                <a:ea typeface="+mn-lt"/>
                <a:cs typeface="+mn-lt"/>
              </a:rPr>
              <a:t>Misconfigured cloud resources remain one of the leading causes of security breaches, unauthorized access, and data exposure.</a:t>
            </a:r>
          </a:p>
          <a:p>
            <a:pPr>
              <a:spcBef>
                <a:spcPts val="1001"/>
              </a:spcBef>
              <a:buClr>
                <a:srgbClr val="000000"/>
              </a:buClr>
              <a:buFont typeface="Arial"/>
              <a:buChar char="•"/>
            </a:pPr>
            <a:r>
              <a:rPr lang="en-US" sz="2400" spc="-1">
                <a:solidFill>
                  <a:srgbClr val="000000"/>
                </a:solidFill>
                <a:ea typeface="+mn-lt"/>
                <a:cs typeface="+mn-lt"/>
              </a:rPr>
              <a:t>Existing cloud security solutions primarily identify individual misconfigurations but often lack contextual analysis and attack path visualization.</a:t>
            </a:r>
          </a:p>
          <a:p>
            <a:pPr>
              <a:spcBef>
                <a:spcPts val="1001"/>
              </a:spcBef>
              <a:buClr>
                <a:srgbClr val="000000"/>
              </a:buClr>
              <a:buFont typeface="Arial"/>
              <a:buChar char="•"/>
            </a:pPr>
            <a:r>
              <a:rPr lang="en-US" sz="2400" spc="-1">
                <a:solidFill>
                  <a:srgbClr val="000000"/>
                </a:solidFill>
                <a:ea typeface="+mn-lt"/>
                <a:cs typeface="+mn-lt"/>
              </a:rPr>
              <a:t>Understanding relationships between cloud resources is essential for accurately assessing security risks and prioritizing remediation efforts.</a:t>
            </a:r>
          </a:p>
          <a:p>
            <a:pPr>
              <a:spcBef>
                <a:spcPts val="1001"/>
              </a:spcBef>
              <a:buClr>
                <a:srgbClr val="000000"/>
              </a:buClr>
              <a:buFont typeface="Arial"/>
              <a:buChar char="•"/>
            </a:pPr>
            <a:r>
              <a:rPr lang="en-US" sz="2400" spc="-1" dirty="0" err="1">
                <a:solidFill>
                  <a:srgbClr val="000000"/>
                </a:solidFill>
                <a:ea typeface="+mn-lt"/>
                <a:cs typeface="+mn-lt"/>
              </a:rPr>
              <a:t>CloudSentinel</a:t>
            </a:r>
            <a:r>
              <a:rPr lang="en-US" sz="2400" spc="-1" dirty="0">
                <a:solidFill>
                  <a:srgbClr val="000000"/>
                </a:solidFill>
                <a:ea typeface="+mn-lt"/>
                <a:cs typeface="+mn-lt"/>
              </a:rPr>
              <a:t> AI proposes a knowledge graph and attack graph-based framework to analyze cloud environments and identify potential attack paths.</a:t>
            </a:r>
          </a:p>
          <a:p>
            <a:pPr>
              <a:spcBef>
                <a:spcPts val="1001"/>
              </a:spcBef>
              <a:buClr>
                <a:srgbClr val="000000"/>
              </a:buClr>
              <a:buFont typeface="Arial"/>
              <a:buChar char="•"/>
            </a:pPr>
            <a:r>
              <a:rPr lang="en-US" sz="2400" spc="-1">
                <a:solidFill>
                  <a:srgbClr val="000000"/>
                </a:solidFill>
                <a:ea typeface="+mn-lt"/>
                <a:cs typeface="+mn-lt"/>
              </a:rPr>
              <a:t>The framework leverages Explainable AI (XAI) to generate context-aware risk assessments and actionable security recommendations.</a:t>
            </a:r>
            <a:endParaRPr lang="en-US" sz="2400" spc="-1" dirty="0">
              <a:solidFill>
                <a:srgbClr val="000000"/>
              </a:solidFill>
              <a:ea typeface="+mn-lt"/>
              <a:cs typeface="+mn-lt"/>
            </a:endParaRPr>
          </a:p>
        </p:txBody>
      </p:sp>
    </p:spTree>
  </p:cSld>
  <p:clrMapOvr>
    <a:masterClrMapping/>
  </p:clrMapOvr>
  <mc:AlternateContent xmlns:mc="http://schemas.openxmlformats.org/markup-compatibility/2006" xmlns:p14="http://schemas.microsoft.com/office/powerpoint/2010/main">
    <mc:Choice Requires="p14">
      <p:transition spd="slow" p14:dur="3400"/>
    </mc:Choice>
    <mc:Fallback xmlns:p15="http://schemas.microsoft.com/office/powerpoint/2012/main" xmlns="">
      <p:transition spd="slow"/>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PlaceHolder 1"/>
          <p:cNvSpPr>
            <a:spLocks noGrp="1"/>
          </p:cNvSpPr>
          <p:nvPr>
            <p:ph type="title"/>
          </p:nvPr>
        </p:nvSpPr>
        <p:spPr>
          <a:xfrm>
            <a:off x="0" y="0"/>
            <a:ext cx="12191400" cy="1324800"/>
          </a:xfrm>
          <a:prstGeom prst="rect">
            <a:avLst/>
          </a:prstGeom>
          <a:noFill/>
          <a:ln w="0">
            <a:noFill/>
          </a:ln>
        </p:spPr>
        <p:txBody>
          <a:bodyPr lIns="90000" tIns="45000" rIns="90000" bIns="45000" anchor="ctr">
            <a:normAutofit/>
          </a:bodyPr>
          <a:lstStyle/>
          <a:p>
            <a:pPr indent="0" algn="ctr">
              <a:lnSpc>
                <a:spcPct val="90000"/>
              </a:lnSpc>
              <a:buNone/>
              <a:tabLst>
                <a:tab pos="0" algn="l"/>
              </a:tabLst>
            </a:pPr>
            <a:r>
              <a:rPr lang="en-US" sz="4000" b="1" strike="noStrike" spc="-1" dirty="0">
                <a:solidFill>
                  <a:srgbClr val="000000"/>
                </a:solidFill>
                <a:latin typeface="Times New Roman"/>
              </a:rPr>
              <a:t>Literature Review</a:t>
            </a:r>
          </a:p>
        </p:txBody>
      </p:sp>
      <p:graphicFrame>
        <p:nvGraphicFramePr>
          <p:cNvPr id="3" name="Content Placeholder 2">
            <a:extLst>
              <a:ext uri="{FF2B5EF4-FFF2-40B4-BE49-F238E27FC236}">
                <a16:creationId xmlns:a16="http://schemas.microsoft.com/office/drawing/2014/main" id="{CEB1C9D1-D68B-C00C-4E55-3ADEE48C3967}"/>
              </a:ext>
            </a:extLst>
          </p:cNvPr>
          <p:cNvGraphicFramePr>
            <a:graphicFrameLocks noGrp="1"/>
          </p:cNvGraphicFramePr>
          <p:nvPr>
            <p:ph/>
            <p:extLst>
              <p:ext uri="{D42A27DB-BD31-4B8C-83A1-F6EECF244321}">
                <p14:modId xmlns:p14="http://schemas.microsoft.com/office/powerpoint/2010/main" val="3309268177"/>
              </p:ext>
            </p:extLst>
          </p:nvPr>
        </p:nvGraphicFramePr>
        <p:xfrm>
          <a:off x="-5870" y="1325520"/>
          <a:ext cx="12192000" cy="3566160"/>
        </p:xfrm>
        <a:graphic>
          <a:graphicData uri="http://schemas.openxmlformats.org/drawingml/2006/table">
            <a:tbl>
              <a:tblPr bandRow="1">
                <a:tableStyleId>{5C22544A-7EE6-4342-B048-85BDC9FD1C3A}</a:tableStyleId>
              </a:tblPr>
              <a:tblGrid>
                <a:gridCol w="4064000">
                  <a:extLst>
                    <a:ext uri="{9D8B030D-6E8A-4147-A177-3AD203B41FA5}">
                      <a16:colId xmlns:a16="http://schemas.microsoft.com/office/drawing/2014/main" val="477439326"/>
                    </a:ext>
                  </a:extLst>
                </a:gridCol>
                <a:gridCol w="4064000">
                  <a:extLst>
                    <a:ext uri="{9D8B030D-6E8A-4147-A177-3AD203B41FA5}">
                      <a16:colId xmlns:a16="http://schemas.microsoft.com/office/drawing/2014/main" val="1816261597"/>
                    </a:ext>
                  </a:extLst>
                </a:gridCol>
                <a:gridCol w="4064000">
                  <a:extLst>
                    <a:ext uri="{9D8B030D-6E8A-4147-A177-3AD203B41FA5}">
                      <a16:colId xmlns:a16="http://schemas.microsoft.com/office/drawing/2014/main" val="2844753135"/>
                    </a:ext>
                  </a:extLst>
                </a:gridCol>
              </a:tblGrid>
              <a:tr h="0">
                <a:tc>
                  <a:txBody>
                    <a:bodyPr/>
                    <a:lstStyle/>
                    <a:p>
                      <a:pPr>
                        <a:buNone/>
                      </a:pPr>
                      <a:r>
                        <a:rPr lang="en-US" b="1"/>
                        <a:t>Existing Work</a:t>
                      </a:r>
                      <a:endParaRPr lang="en-US"/>
                    </a:p>
                  </a:txBody>
                  <a:tcPr anchor="ctr">
                    <a:lnL>
                      <a:noFill/>
                    </a:lnL>
                    <a:lnR>
                      <a:noFill/>
                    </a:lnR>
                    <a:lnT>
                      <a:noFill/>
                    </a:lnT>
                    <a:lnB>
                      <a:noFill/>
                    </a:lnB>
                    <a:noFill/>
                  </a:tcPr>
                </a:tc>
                <a:tc>
                  <a:txBody>
                    <a:bodyPr/>
                    <a:lstStyle/>
                    <a:p>
                      <a:pPr>
                        <a:buNone/>
                      </a:pPr>
                      <a:r>
                        <a:rPr lang="en-US" b="1"/>
                        <a:t>Approach</a:t>
                      </a:r>
                      <a:endParaRPr lang="en-US"/>
                    </a:p>
                  </a:txBody>
                  <a:tcPr anchor="ctr">
                    <a:lnL>
                      <a:noFill/>
                    </a:lnL>
                    <a:lnR>
                      <a:noFill/>
                    </a:lnR>
                    <a:lnT>
                      <a:noFill/>
                    </a:lnT>
                    <a:lnB>
                      <a:noFill/>
                    </a:lnB>
                    <a:noFill/>
                  </a:tcPr>
                </a:tc>
                <a:tc>
                  <a:txBody>
                    <a:bodyPr/>
                    <a:lstStyle/>
                    <a:p>
                      <a:pPr>
                        <a:buNone/>
                      </a:pPr>
                      <a:r>
                        <a:rPr lang="en-US" b="1"/>
                        <a:t>Limitation</a:t>
                      </a:r>
                      <a:endParaRPr lang="en-US"/>
                    </a:p>
                  </a:txBody>
                  <a:tcPr anchor="ctr">
                    <a:lnL>
                      <a:noFill/>
                    </a:lnL>
                    <a:lnR>
                      <a:noFill/>
                    </a:lnR>
                    <a:lnT>
                      <a:noFill/>
                    </a:lnT>
                    <a:lnB>
                      <a:noFill/>
                    </a:lnB>
                    <a:noFill/>
                  </a:tcPr>
                </a:tc>
                <a:extLst>
                  <a:ext uri="{0D108BD9-81ED-4DB2-BD59-A6C34878D82A}">
                    <a16:rowId xmlns:a16="http://schemas.microsoft.com/office/drawing/2014/main" val="1285281261"/>
                  </a:ext>
                </a:extLst>
              </a:tr>
              <a:tr h="0">
                <a:tc>
                  <a:txBody>
                    <a:bodyPr/>
                    <a:lstStyle/>
                    <a:p>
                      <a:pPr>
                        <a:buNone/>
                      </a:pPr>
                      <a:r>
                        <a:rPr lang="en-US"/>
                        <a:t>AWS Security Hub</a:t>
                      </a:r>
                    </a:p>
                  </a:txBody>
                  <a:tcPr anchor="ctr">
                    <a:lnL>
                      <a:noFill/>
                    </a:lnL>
                    <a:lnR>
                      <a:noFill/>
                    </a:lnR>
                    <a:lnT>
                      <a:noFill/>
                    </a:lnT>
                    <a:lnB>
                      <a:noFill/>
                    </a:lnB>
                    <a:noFill/>
                  </a:tcPr>
                </a:tc>
                <a:tc>
                  <a:txBody>
                    <a:bodyPr/>
                    <a:lstStyle/>
                    <a:p>
                      <a:pPr>
                        <a:buNone/>
                      </a:pPr>
                      <a:r>
                        <a:rPr lang="en-US"/>
                        <a:t>Detects cloud security findings and compliance violations.</a:t>
                      </a:r>
                    </a:p>
                  </a:txBody>
                  <a:tcPr anchor="ctr">
                    <a:lnL>
                      <a:noFill/>
                    </a:lnL>
                    <a:lnR>
                      <a:noFill/>
                    </a:lnR>
                    <a:lnT>
                      <a:noFill/>
                    </a:lnT>
                    <a:lnB>
                      <a:noFill/>
                    </a:lnB>
                    <a:noFill/>
                  </a:tcPr>
                </a:tc>
                <a:tc>
                  <a:txBody>
                    <a:bodyPr/>
                    <a:lstStyle/>
                    <a:p>
                      <a:pPr>
                        <a:buNone/>
                      </a:pPr>
                      <a:r>
                        <a:rPr lang="en-US"/>
                        <a:t>No attack path analysis or contextual risk assessment.</a:t>
                      </a:r>
                    </a:p>
                  </a:txBody>
                  <a:tcPr anchor="ctr">
                    <a:lnL>
                      <a:noFill/>
                    </a:lnL>
                    <a:lnR>
                      <a:noFill/>
                    </a:lnR>
                    <a:lnT>
                      <a:noFill/>
                    </a:lnT>
                    <a:lnB>
                      <a:noFill/>
                    </a:lnB>
                    <a:noFill/>
                  </a:tcPr>
                </a:tc>
                <a:extLst>
                  <a:ext uri="{0D108BD9-81ED-4DB2-BD59-A6C34878D82A}">
                    <a16:rowId xmlns:a16="http://schemas.microsoft.com/office/drawing/2014/main" val="2743389737"/>
                  </a:ext>
                </a:extLst>
              </a:tr>
              <a:tr h="0">
                <a:tc>
                  <a:txBody>
                    <a:bodyPr/>
                    <a:lstStyle/>
                    <a:p>
                      <a:pPr>
                        <a:buNone/>
                      </a:pPr>
                      <a:r>
                        <a:rPr lang="en-US"/>
                        <a:t>Amazon Inspector</a:t>
                      </a:r>
                    </a:p>
                  </a:txBody>
                  <a:tcPr anchor="ctr">
                    <a:lnL>
                      <a:noFill/>
                    </a:lnL>
                    <a:lnR>
                      <a:noFill/>
                    </a:lnR>
                    <a:lnT>
                      <a:noFill/>
                    </a:lnT>
                    <a:lnB>
                      <a:noFill/>
                    </a:lnB>
                    <a:noFill/>
                  </a:tcPr>
                </a:tc>
                <a:tc>
                  <a:txBody>
                    <a:bodyPr/>
                    <a:lstStyle/>
                    <a:p>
                      <a:pPr>
                        <a:buNone/>
                      </a:pPr>
                      <a:r>
                        <a:rPr lang="en-US"/>
                        <a:t>Performs vulnerability assessment for EC2, ECR, and Lambda.</a:t>
                      </a:r>
                    </a:p>
                  </a:txBody>
                  <a:tcPr anchor="ctr">
                    <a:lnL>
                      <a:noFill/>
                    </a:lnL>
                    <a:lnR>
                      <a:noFill/>
                    </a:lnR>
                    <a:lnT>
                      <a:noFill/>
                    </a:lnT>
                    <a:lnB>
                      <a:noFill/>
                    </a:lnB>
                    <a:noFill/>
                  </a:tcPr>
                </a:tc>
                <a:tc>
                  <a:txBody>
                    <a:bodyPr/>
                    <a:lstStyle/>
                    <a:p>
                      <a:pPr>
                        <a:buNone/>
                      </a:pPr>
                      <a:r>
                        <a:rPr lang="en-US"/>
                        <a:t>Focuses on vulnerabilities rather than cloud resource relationships.</a:t>
                      </a:r>
                    </a:p>
                  </a:txBody>
                  <a:tcPr anchor="ctr">
                    <a:lnL>
                      <a:noFill/>
                    </a:lnL>
                    <a:lnR>
                      <a:noFill/>
                    </a:lnR>
                    <a:lnT>
                      <a:noFill/>
                    </a:lnT>
                    <a:lnB>
                      <a:noFill/>
                    </a:lnB>
                    <a:noFill/>
                  </a:tcPr>
                </a:tc>
                <a:extLst>
                  <a:ext uri="{0D108BD9-81ED-4DB2-BD59-A6C34878D82A}">
                    <a16:rowId xmlns:a16="http://schemas.microsoft.com/office/drawing/2014/main" val="2280870561"/>
                  </a:ext>
                </a:extLst>
              </a:tr>
              <a:tr h="0">
                <a:tc>
                  <a:txBody>
                    <a:bodyPr/>
                    <a:lstStyle/>
                    <a:p>
                      <a:pPr>
                        <a:buNone/>
                      </a:pPr>
                      <a:r>
                        <a:rPr lang="en-US"/>
                        <a:t>Prowler</a:t>
                      </a:r>
                    </a:p>
                  </a:txBody>
                  <a:tcPr anchor="ctr">
                    <a:lnL>
                      <a:noFill/>
                    </a:lnL>
                    <a:lnR>
                      <a:noFill/>
                    </a:lnR>
                    <a:lnT>
                      <a:noFill/>
                    </a:lnT>
                    <a:lnB>
                      <a:noFill/>
                    </a:lnB>
                    <a:noFill/>
                  </a:tcPr>
                </a:tc>
                <a:tc>
                  <a:txBody>
                    <a:bodyPr/>
                    <a:lstStyle/>
                    <a:p>
                      <a:pPr>
                        <a:buNone/>
                      </a:pPr>
                      <a:r>
                        <a:rPr lang="en-US"/>
                        <a:t>Open-source AWS security and compliance assessment tool.</a:t>
                      </a:r>
                    </a:p>
                  </a:txBody>
                  <a:tcPr anchor="ctr">
                    <a:lnL>
                      <a:noFill/>
                    </a:lnL>
                    <a:lnR>
                      <a:noFill/>
                    </a:lnR>
                    <a:lnT>
                      <a:noFill/>
                    </a:lnT>
                    <a:lnB>
                      <a:noFill/>
                    </a:lnB>
                    <a:noFill/>
                  </a:tcPr>
                </a:tc>
                <a:tc>
                  <a:txBody>
                    <a:bodyPr/>
                    <a:lstStyle/>
                    <a:p>
                      <a:pPr>
                        <a:buNone/>
                      </a:pPr>
                      <a:r>
                        <a:rPr lang="en-US"/>
                        <a:t>Reports misconfigurations individually without attack path correlation.</a:t>
                      </a:r>
                    </a:p>
                  </a:txBody>
                  <a:tcPr anchor="ctr">
                    <a:lnL>
                      <a:noFill/>
                    </a:lnL>
                    <a:lnR>
                      <a:noFill/>
                    </a:lnR>
                    <a:lnT>
                      <a:noFill/>
                    </a:lnT>
                    <a:lnB>
                      <a:noFill/>
                    </a:lnB>
                    <a:noFill/>
                  </a:tcPr>
                </a:tc>
                <a:extLst>
                  <a:ext uri="{0D108BD9-81ED-4DB2-BD59-A6C34878D82A}">
                    <a16:rowId xmlns:a16="http://schemas.microsoft.com/office/drawing/2014/main" val="3669569485"/>
                  </a:ext>
                </a:extLst>
              </a:tr>
              <a:tr h="0">
                <a:tc>
                  <a:txBody>
                    <a:bodyPr/>
                    <a:lstStyle/>
                    <a:p>
                      <a:pPr>
                        <a:buNone/>
                      </a:pPr>
                      <a:r>
                        <a:rPr lang="en-US" dirty="0" err="1"/>
                        <a:t>ScoutSuite</a:t>
                      </a:r>
                    </a:p>
                  </a:txBody>
                  <a:tcPr anchor="ctr">
                    <a:lnL>
                      <a:noFill/>
                    </a:lnL>
                    <a:lnR>
                      <a:noFill/>
                    </a:lnR>
                    <a:lnT>
                      <a:noFill/>
                    </a:lnT>
                    <a:lnB>
                      <a:noFill/>
                    </a:lnB>
                    <a:noFill/>
                  </a:tcPr>
                </a:tc>
                <a:tc>
                  <a:txBody>
                    <a:bodyPr/>
                    <a:lstStyle/>
                    <a:p>
                      <a:pPr>
                        <a:buNone/>
                      </a:pPr>
                      <a:r>
                        <a:rPr lang="en-US"/>
                        <a:t>Multi-cloud security auditing and posture assessment.</a:t>
                      </a:r>
                    </a:p>
                  </a:txBody>
                  <a:tcPr anchor="ctr">
                    <a:lnL>
                      <a:noFill/>
                    </a:lnL>
                    <a:lnR>
                      <a:noFill/>
                    </a:lnR>
                    <a:lnT>
                      <a:noFill/>
                    </a:lnT>
                    <a:lnB>
                      <a:noFill/>
                    </a:lnB>
                    <a:noFill/>
                  </a:tcPr>
                </a:tc>
                <a:tc>
                  <a:txBody>
                    <a:bodyPr/>
                    <a:lstStyle/>
                    <a:p>
                      <a:pPr>
                        <a:buNone/>
                      </a:pPr>
                      <a:r>
                        <a:rPr lang="en-US"/>
                        <a:t>Limited contextual analysis and no explainable AI recommendations.</a:t>
                      </a:r>
                    </a:p>
                  </a:txBody>
                  <a:tcPr anchor="ctr">
                    <a:lnL>
                      <a:noFill/>
                    </a:lnL>
                    <a:lnR>
                      <a:noFill/>
                    </a:lnR>
                    <a:lnT>
                      <a:noFill/>
                    </a:lnT>
                    <a:lnB>
                      <a:noFill/>
                    </a:lnB>
                    <a:noFill/>
                  </a:tcPr>
                </a:tc>
                <a:extLst>
                  <a:ext uri="{0D108BD9-81ED-4DB2-BD59-A6C34878D82A}">
                    <a16:rowId xmlns:a16="http://schemas.microsoft.com/office/drawing/2014/main" val="1152420376"/>
                  </a:ext>
                </a:extLst>
              </a:tr>
              <a:tr h="0">
                <a:tc>
                  <a:txBody>
                    <a:bodyPr/>
                    <a:lstStyle/>
                    <a:p>
                      <a:pPr>
                        <a:buNone/>
                      </a:pPr>
                      <a:r>
                        <a:rPr lang="en-US"/>
                        <a:t>Research on Knowledge Graph-Based Cloud Security</a:t>
                      </a:r>
                    </a:p>
                  </a:txBody>
                  <a:tcPr anchor="ctr">
                    <a:lnL>
                      <a:noFill/>
                    </a:lnL>
                    <a:lnR>
                      <a:noFill/>
                    </a:lnR>
                    <a:lnT>
                      <a:noFill/>
                    </a:lnT>
                    <a:lnB>
                      <a:noFill/>
                    </a:lnB>
                    <a:noFill/>
                  </a:tcPr>
                </a:tc>
                <a:tc>
                  <a:txBody>
                    <a:bodyPr/>
                    <a:lstStyle/>
                    <a:p>
                      <a:pPr>
                        <a:buNone/>
                      </a:pPr>
                      <a:r>
                        <a:rPr lang="en-US" dirty="0" err="1"/>
                        <a:t>Models</a:t>
                      </a:r>
                      <a:r>
                        <a:rPr lang="en-US" dirty="0"/>
                        <a:t> relationships among cloud resources using graph structures.</a:t>
                      </a:r>
                    </a:p>
                  </a:txBody>
                  <a:tcPr anchor="ctr">
                    <a:lnL>
                      <a:noFill/>
                    </a:lnL>
                    <a:lnR>
                      <a:noFill/>
                    </a:lnR>
                    <a:lnT>
                      <a:noFill/>
                    </a:lnT>
                    <a:lnB>
                      <a:noFill/>
                    </a:lnB>
                    <a:noFill/>
                  </a:tcPr>
                </a:tc>
                <a:tc>
                  <a:txBody>
                    <a:bodyPr/>
                    <a:lstStyle/>
                    <a:p>
                      <a:pPr>
                        <a:buNone/>
                      </a:pPr>
                      <a:r>
                        <a:rPr lang="en-US"/>
                        <a:t>Limited integration with attack graph generation and AI-driven remediation.</a:t>
                      </a:r>
                    </a:p>
                  </a:txBody>
                  <a:tcPr anchor="ctr">
                    <a:lnL>
                      <a:noFill/>
                    </a:lnL>
                    <a:lnR>
                      <a:noFill/>
                    </a:lnR>
                    <a:lnT>
                      <a:noFill/>
                    </a:lnT>
                    <a:lnB>
                      <a:noFill/>
                    </a:lnB>
                    <a:noFill/>
                  </a:tcPr>
                </a:tc>
                <a:extLst>
                  <a:ext uri="{0D108BD9-81ED-4DB2-BD59-A6C34878D82A}">
                    <a16:rowId xmlns:a16="http://schemas.microsoft.com/office/drawing/2014/main" val="2433569846"/>
                  </a:ext>
                </a:extLst>
              </a:tr>
            </a:tbl>
          </a:graphicData>
        </a:graphic>
      </p:graphicFrame>
      <p:sp>
        <p:nvSpPr>
          <p:cNvPr id="4" name="TextBox 3">
            <a:extLst>
              <a:ext uri="{FF2B5EF4-FFF2-40B4-BE49-F238E27FC236}">
                <a16:creationId xmlns:a16="http://schemas.microsoft.com/office/drawing/2014/main" id="{C195F0CA-2076-8900-E121-99A82D0606B3}"/>
              </a:ext>
            </a:extLst>
          </p:cNvPr>
          <p:cNvSpPr txBox="1"/>
          <p:nvPr/>
        </p:nvSpPr>
        <p:spPr>
          <a:xfrm>
            <a:off x="0" y="5382380"/>
            <a:ext cx="12022666"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ea typeface="+mn-lt"/>
                <a:cs typeface="+mn-lt"/>
              </a:rPr>
              <a:t>Research Gap:</a:t>
            </a:r>
          </a:p>
          <a:p>
            <a:r>
              <a:rPr lang="en-US" b="1" dirty="0">
                <a:ea typeface="+mn-lt"/>
                <a:cs typeface="+mn-lt"/>
              </a:rPr>
              <a:t>Current cloud security solutions effectively detect misconfigurations and vulnerabilities but lack integrated knowledge graph modeling, attack path analysis, context-aware risk scoring, and explainable AI-based remediation. </a:t>
            </a:r>
            <a:r>
              <a:rPr lang="en-US" b="1" dirty="0" err="1">
                <a:ea typeface="+mn-lt"/>
                <a:cs typeface="+mn-lt"/>
              </a:rPr>
              <a:t>CloudSentinel</a:t>
            </a:r>
            <a:r>
              <a:rPr lang="en-US" b="1" dirty="0">
                <a:ea typeface="+mn-lt"/>
                <a:cs typeface="+mn-lt"/>
              </a:rPr>
              <a:t> AI addresses these limitations through a unified intelligent security assessment framework.</a:t>
            </a:r>
            <a:endParaRPr lang="en-US" b="1"/>
          </a:p>
        </p:txBody>
      </p:sp>
    </p:spTree>
  </p:cSld>
  <p:clrMapOvr>
    <a:masterClrMapping/>
  </p:clrMapOvr>
  <mc:AlternateContent xmlns:mc="http://schemas.openxmlformats.org/markup-compatibility/2006" xmlns:p14="http://schemas.microsoft.com/office/powerpoint/2010/main">
    <mc:Choice Requires="p14">
      <p:transition spd="slow" p14:dur="3400"/>
    </mc:Choice>
    <mc:Fallback xmlns:p15="http://schemas.microsoft.com/office/powerpoint/2012/main" xmlns="">
      <p:transition spd="slow"/>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0" y="0"/>
            <a:ext cx="12191400" cy="1324800"/>
          </a:xfrm>
          <a:prstGeom prst="rect">
            <a:avLst/>
          </a:prstGeom>
          <a:noFill/>
          <a:ln w="0">
            <a:noFill/>
          </a:ln>
        </p:spPr>
        <p:txBody>
          <a:bodyPr lIns="90000" tIns="45000" rIns="90000" bIns="45000" anchor="ctr">
            <a:normAutofit/>
          </a:bodyPr>
          <a:lstStyle/>
          <a:p>
            <a:pPr indent="0" algn="ctr">
              <a:lnSpc>
                <a:spcPct val="90000"/>
              </a:lnSpc>
              <a:buNone/>
              <a:tabLst>
                <a:tab pos="0" algn="l"/>
              </a:tabLst>
            </a:pPr>
            <a:r>
              <a:rPr lang="en-US" sz="4000" b="1" strike="noStrike" spc="-1" dirty="0">
                <a:solidFill>
                  <a:srgbClr val="000000"/>
                </a:solidFill>
                <a:latin typeface="Times New Roman"/>
              </a:rPr>
              <a:t>Problem Statement</a:t>
            </a:r>
          </a:p>
        </p:txBody>
      </p:sp>
      <p:sp>
        <p:nvSpPr>
          <p:cNvPr id="51" name="PlaceHolder 2"/>
          <p:cNvSpPr>
            <a:spLocks noGrp="1"/>
          </p:cNvSpPr>
          <p:nvPr>
            <p:ph/>
          </p:nvPr>
        </p:nvSpPr>
        <p:spPr>
          <a:xfrm>
            <a:off x="526320" y="1325520"/>
            <a:ext cx="11498400" cy="4850640"/>
          </a:xfrm>
          <a:prstGeom prst="rect">
            <a:avLst/>
          </a:prstGeom>
          <a:noFill/>
          <a:ln w="0">
            <a:noFill/>
          </a:ln>
        </p:spPr>
        <p:txBody>
          <a:bodyPr lIns="90000" tIns="45000" rIns="90000" bIns="45000" anchor="t">
            <a:normAutofit/>
          </a:bodyPr>
          <a:lstStyle/>
          <a:p>
            <a:pPr marL="571500" indent="-342900">
              <a:spcBef>
                <a:spcPts val="1001"/>
              </a:spcBef>
              <a:tabLst>
                <a:tab pos="0" algn="l"/>
              </a:tabLst>
            </a:pPr>
            <a:r>
              <a:rPr lang="en-US" sz="1800" spc="-1">
                <a:solidFill>
                  <a:srgbClr val="000000"/>
                </a:solidFill>
                <a:ea typeface="+mn-lt"/>
                <a:cs typeface="+mn-lt"/>
              </a:rPr>
              <a:t>Modern cloud environments consist of numerous interconnected services such as IAM, EC2, S3, Lambda, and databases, making security management increasingly complex.</a:t>
            </a:r>
          </a:p>
          <a:p>
            <a:pPr marL="571500" indent="-342900">
              <a:spcBef>
                <a:spcPts val="1001"/>
              </a:spcBef>
              <a:tabLst>
                <a:tab pos="0" algn="l"/>
              </a:tabLst>
            </a:pPr>
            <a:r>
              <a:rPr lang="en-US" sz="1800" spc="-1">
                <a:solidFill>
                  <a:srgbClr val="000000"/>
                </a:solidFill>
                <a:ea typeface="+mn-lt"/>
                <a:cs typeface="+mn-lt"/>
              </a:rPr>
              <a:t>Security misconfigurations, excessive permissions, and insecure network settings can be exploited together to create multi-stage attack paths leading to critical data compromise.</a:t>
            </a:r>
          </a:p>
          <a:p>
            <a:pPr marL="571500" indent="-342900">
              <a:spcBef>
                <a:spcPts val="1001"/>
              </a:spcBef>
              <a:tabLst>
                <a:tab pos="0" algn="l"/>
              </a:tabLst>
            </a:pPr>
            <a:r>
              <a:rPr lang="en-US" sz="1800" spc="-1">
                <a:solidFill>
                  <a:srgbClr val="000000"/>
                </a:solidFill>
                <a:ea typeface="+mn-lt"/>
                <a:cs typeface="+mn-lt"/>
              </a:rPr>
              <a:t>Existing Cloud Security Posture Management (CSPM) tools primarily identify individual security issues but provide limited insight into the relationships between cloud resources and potential attack chains.</a:t>
            </a:r>
          </a:p>
          <a:p>
            <a:pPr marL="571500" indent="-342900">
              <a:spcBef>
                <a:spcPts val="1001"/>
              </a:spcBef>
              <a:tabLst>
                <a:tab pos="0" algn="l"/>
              </a:tabLst>
            </a:pPr>
            <a:r>
              <a:rPr lang="en-US" sz="1800" spc="-1">
                <a:solidFill>
                  <a:srgbClr val="000000"/>
                </a:solidFill>
                <a:ea typeface="+mn-lt"/>
                <a:cs typeface="+mn-lt"/>
              </a:rPr>
              <a:t>Security teams often face alert overload and lack effective prioritization of risks based on exploitability and business impact.</a:t>
            </a:r>
          </a:p>
          <a:p>
            <a:pPr marL="571500" indent="-342900">
              <a:spcBef>
                <a:spcPts val="1001"/>
              </a:spcBef>
              <a:tabLst>
                <a:tab pos="0" algn="l"/>
              </a:tabLst>
            </a:pPr>
            <a:r>
              <a:rPr lang="en-US" sz="1800" spc="-1">
                <a:solidFill>
                  <a:srgbClr val="000000"/>
                </a:solidFill>
                <a:ea typeface="+mn-lt"/>
                <a:cs typeface="+mn-lt"/>
              </a:rPr>
              <a:t>There is a need for an intelligent framework that combines </a:t>
            </a:r>
            <a:r>
              <a:rPr lang="en-US" sz="1800" b="1" spc="-1">
                <a:solidFill>
                  <a:srgbClr val="000000"/>
                </a:solidFill>
                <a:ea typeface="+mn-lt"/>
                <a:cs typeface="+mn-lt"/>
              </a:rPr>
              <a:t>knowledge graph modeling</a:t>
            </a:r>
            <a:r>
              <a:rPr lang="en-US" sz="1800" spc="-1">
                <a:solidFill>
                  <a:srgbClr val="000000"/>
                </a:solidFill>
                <a:ea typeface="+mn-lt"/>
                <a:cs typeface="+mn-lt"/>
              </a:rPr>
              <a:t>, </a:t>
            </a:r>
            <a:r>
              <a:rPr lang="en-US" sz="1800" b="1" spc="-1">
                <a:solidFill>
                  <a:srgbClr val="000000"/>
                </a:solidFill>
                <a:ea typeface="+mn-lt"/>
                <a:cs typeface="+mn-lt"/>
              </a:rPr>
              <a:t>attack path analysis</a:t>
            </a:r>
            <a:r>
              <a:rPr lang="en-US" sz="1800" spc="-1">
                <a:solidFill>
                  <a:srgbClr val="000000"/>
                </a:solidFill>
                <a:ea typeface="+mn-lt"/>
                <a:cs typeface="+mn-lt"/>
              </a:rPr>
              <a:t>, </a:t>
            </a:r>
            <a:r>
              <a:rPr lang="en-US" sz="1800" b="1" spc="-1">
                <a:solidFill>
                  <a:srgbClr val="000000"/>
                </a:solidFill>
                <a:ea typeface="+mn-lt"/>
                <a:cs typeface="+mn-lt"/>
              </a:rPr>
              <a:t>context-aware risk assessment</a:t>
            </a:r>
            <a:r>
              <a:rPr lang="en-US" sz="1800" spc="-1">
                <a:solidFill>
                  <a:srgbClr val="000000"/>
                </a:solidFill>
                <a:ea typeface="+mn-lt"/>
                <a:cs typeface="+mn-lt"/>
              </a:rPr>
              <a:t>, and </a:t>
            </a:r>
            <a:r>
              <a:rPr lang="en-US" sz="1800" b="1" spc="-1">
                <a:solidFill>
                  <a:srgbClr val="000000"/>
                </a:solidFill>
                <a:ea typeface="+mn-lt"/>
                <a:cs typeface="+mn-lt"/>
              </a:rPr>
              <a:t>Explainable AI</a:t>
            </a:r>
            <a:r>
              <a:rPr lang="en-US" sz="1800" spc="-1">
                <a:solidFill>
                  <a:srgbClr val="000000"/>
                </a:solidFill>
                <a:ea typeface="+mn-lt"/>
                <a:cs typeface="+mn-lt"/>
              </a:rPr>
              <a:t> to provide actionable security recommendations.</a:t>
            </a:r>
          </a:p>
          <a:p>
            <a:pPr indent="0">
              <a:spcBef>
                <a:spcPts val="1001"/>
              </a:spcBef>
              <a:buNone/>
              <a:tabLst>
                <a:tab pos="0" algn="l"/>
              </a:tabLst>
            </a:pPr>
            <a:r>
              <a:rPr lang="en-US" sz="1800" spc="-1">
                <a:solidFill>
                  <a:srgbClr val="000000"/>
                </a:solidFill>
                <a:ea typeface="+mn-lt"/>
                <a:cs typeface="+mn-lt"/>
              </a:rPr>
              <a:t>Problem Statement:</a:t>
            </a:r>
            <a:endParaRPr lang="en-US">
              <a:solidFill>
                <a:srgbClr val="000000"/>
              </a:solidFill>
              <a:ea typeface="+mn-lt"/>
              <a:cs typeface="+mn-lt"/>
            </a:endParaRPr>
          </a:p>
          <a:p>
            <a:pPr indent="0">
              <a:spcBef>
                <a:spcPts val="1001"/>
              </a:spcBef>
              <a:buNone/>
              <a:tabLst>
                <a:tab pos="0" algn="l"/>
              </a:tabLst>
            </a:pPr>
            <a:r>
              <a:rPr lang="en-US" sz="1800" spc="-1" dirty="0" err="1">
                <a:ea typeface="+mn-lt"/>
                <a:cs typeface="+mn-lt"/>
              </a:rPr>
              <a:t>CloudSentinel</a:t>
            </a:r>
            <a:r>
              <a:rPr lang="en-US" sz="1800" spc="-1" dirty="0">
                <a:ea typeface="+mn-lt"/>
                <a:cs typeface="+mn-lt"/>
              </a:rPr>
              <a:t> AI addresses this challenge by transforming isolated cloud security findings into context-aware, explainable, and prioritized security intelligence.</a:t>
            </a:r>
            <a:endParaRPr lang="en-US" dirty="0"/>
          </a:p>
        </p:txBody>
      </p:sp>
    </p:spTree>
  </p:cSld>
  <p:clrMapOvr>
    <a:masterClrMapping/>
  </p:clrMapOvr>
  <mc:AlternateContent xmlns:mc="http://schemas.openxmlformats.org/markup-compatibility/2006" xmlns:p14="http://schemas.microsoft.com/office/powerpoint/2010/main">
    <mc:Choice Requires="p14">
      <p:transition spd="slow" p14:dur="3400"/>
    </mc:Choice>
    <mc:Fallback xmlns:p15="http://schemas.microsoft.com/office/powerpoint/2012/main" xmlns="">
      <p:transition spd="slow"/>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PlaceHolder 1"/>
          <p:cNvSpPr>
            <a:spLocks noGrp="1"/>
          </p:cNvSpPr>
          <p:nvPr>
            <p:ph type="title"/>
          </p:nvPr>
        </p:nvSpPr>
        <p:spPr>
          <a:xfrm>
            <a:off x="0" y="0"/>
            <a:ext cx="12191400" cy="1324800"/>
          </a:xfrm>
          <a:prstGeom prst="rect">
            <a:avLst/>
          </a:prstGeom>
          <a:noFill/>
          <a:ln w="0">
            <a:noFill/>
          </a:ln>
        </p:spPr>
        <p:txBody>
          <a:bodyPr lIns="90000" tIns="45000" rIns="90000" bIns="45000" anchor="ctr">
            <a:normAutofit/>
          </a:bodyPr>
          <a:lstStyle/>
          <a:p>
            <a:pPr indent="0" algn="ctr">
              <a:lnSpc>
                <a:spcPct val="90000"/>
              </a:lnSpc>
              <a:buNone/>
              <a:tabLst>
                <a:tab pos="0" algn="l"/>
              </a:tabLst>
            </a:pPr>
            <a:r>
              <a:rPr lang="en-US" sz="4000" b="1" strike="noStrike" spc="-1" dirty="0">
                <a:solidFill>
                  <a:srgbClr val="000000"/>
                </a:solidFill>
                <a:latin typeface="Times New Roman"/>
              </a:rPr>
              <a:t>Objectives of the Project</a:t>
            </a:r>
          </a:p>
        </p:txBody>
      </p:sp>
      <p:sp>
        <p:nvSpPr>
          <p:cNvPr id="51" name="PlaceHolder 2"/>
          <p:cNvSpPr>
            <a:spLocks noGrp="1"/>
          </p:cNvSpPr>
          <p:nvPr>
            <p:ph/>
          </p:nvPr>
        </p:nvSpPr>
        <p:spPr>
          <a:xfrm>
            <a:off x="526320" y="1325520"/>
            <a:ext cx="11498400" cy="4850640"/>
          </a:xfrm>
          <a:prstGeom prst="rect">
            <a:avLst/>
          </a:prstGeom>
          <a:noFill/>
          <a:ln w="0">
            <a:noFill/>
          </a:ln>
        </p:spPr>
        <p:txBody>
          <a:bodyPr lIns="90000" tIns="45000" rIns="90000" bIns="45000" anchor="t">
            <a:normAutofit/>
          </a:bodyPr>
          <a:lstStyle/>
          <a:p>
            <a:pPr marL="571500" indent="-342900">
              <a:spcBef>
                <a:spcPts val="1001"/>
              </a:spcBef>
              <a:tabLst>
                <a:tab pos="0" algn="l"/>
              </a:tabLst>
            </a:pPr>
            <a:r>
              <a:rPr lang="en-US" sz="1800" spc="-1">
                <a:solidFill>
                  <a:srgbClr val="000000"/>
                </a:solidFill>
                <a:ea typeface="+mn-lt"/>
                <a:cs typeface="+mn-lt"/>
              </a:rPr>
              <a:t>Develop an intelligent framework to automatically identify cloud security misconfigurations across AWS resources.</a:t>
            </a:r>
          </a:p>
          <a:p>
            <a:pPr marL="571500" indent="-342900">
              <a:spcBef>
                <a:spcPts val="1001"/>
              </a:spcBef>
              <a:tabLst>
                <a:tab pos="0" algn="l"/>
              </a:tabLst>
            </a:pPr>
            <a:r>
              <a:rPr lang="en-US" sz="1800" spc="-1">
                <a:solidFill>
                  <a:srgbClr val="000000"/>
                </a:solidFill>
                <a:ea typeface="+mn-lt"/>
                <a:cs typeface="+mn-lt"/>
              </a:rPr>
              <a:t>Construct a </a:t>
            </a:r>
            <a:r>
              <a:rPr lang="en-US" sz="1800" b="1" spc="-1">
                <a:solidFill>
                  <a:srgbClr val="000000"/>
                </a:solidFill>
                <a:ea typeface="+mn-lt"/>
                <a:cs typeface="+mn-lt"/>
              </a:rPr>
              <a:t>Knowledge Graph</a:t>
            </a:r>
            <a:r>
              <a:rPr lang="en-US" sz="1800" spc="-1">
                <a:solidFill>
                  <a:srgbClr val="000000"/>
                </a:solidFill>
                <a:ea typeface="+mn-lt"/>
                <a:cs typeface="+mn-lt"/>
              </a:rPr>
              <a:t> to model relationships between cloud resources for enhanced security analysis.</a:t>
            </a:r>
          </a:p>
          <a:p>
            <a:pPr marL="571500" indent="-342900">
              <a:spcBef>
                <a:spcPts val="1001"/>
              </a:spcBef>
              <a:tabLst>
                <a:tab pos="0" algn="l"/>
              </a:tabLst>
            </a:pPr>
            <a:r>
              <a:rPr lang="en-US" sz="1800" spc="-1">
                <a:solidFill>
                  <a:srgbClr val="000000"/>
                </a:solidFill>
                <a:ea typeface="+mn-lt"/>
                <a:cs typeface="+mn-lt"/>
              </a:rPr>
              <a:t>Generate </a:t>
            </a:r>
            <a:r>
              <a:rPr lang="en-US" sz="1800" b="1" spc="-1">
                <a:solidFill>
                  <a:srgbClr val="000000"/>
                </a:solidFill>
                <a:ea typeface="+mn-lt"/>
                <a:cs typeface="+mn-lt"/>
              </a:rPr>
              <a:t>Attack Graphs</a:t>
            </a:r>
            <a:r>
              <a:rPr lang="en-US" sz="1800" spc="-1">
                <a:solidFill>
                  <a:srgbClr val="000000"/>
                </a:solidFill>
                <a:ea typeface="+mn-lt"/>
                <a:cs typeface="+mn-lt"/>
              </a:rPr>
              <a:t> to identify potential attack paths, privilege escalation opportunities, and lateral movement.</a:t>
            </a:r>
          </a:p>
          <a:p>
            <a:pPr marL="571500" indent="-342900">
              <a:spcBef>
                <a:spcPts val="1001"/>
              </a:spcBef>
              <a:tabLst>
                <a:tab pos="0" algn="l"/>
              </a:tabLst>
            </a:pPr>
            <a:r>
              <a:rPr lang="en-US" sz="1800" spc="-1">
                <a:solidFill>
                  <a:srgbClr val="000000"/>
                </a:solidFill>
                <a:ea typeface="+mn-lt"/>
                <a:cs typeface="+mn-lt"/>
              </a:rPr>
              <a:t>Perform </a:t>
            </a:r>
            <a:r>
              <a:rPr lang="en-US" sz="1800" b="1" spc="-1">
                <a:solidFill>
                  <a:srgbClr val="000000"/>
                </a:solidFill>
                <a:ea typeface="+mn-lt"/>
                <a:cs typeface="+mn-lt"/>
              </a:rPr>
              <a:t>Context-Aware Risk Assessment</a:t>
            </a:r>
            <a:r>
              <a:rPr lang="en-US" sz="1800" spc="-1">
                <a:solidFill>
                  <a:srgbClr val="000000"/>
                </a:solidFill>
                <a:ea typeface="+mn-lt"/>
                <a:cs typeface="+mn-lt"/>
              </a:rPr>
              <a:t> by prioritizing security findings based on exploitability, resource relationships, and business impact.</a:t>
            </a:r>
          </a:p>
          <a:p>
            <a:pPr marL="571500" indent="-342900">
              <a:spcBef>
                <a:spcPts val="1001"/>
              </a:spcBef>
              <a:tabLst>
                <a:tab pos="0" algn="l"/>
              </a:tabLst>
            </a:pPr>
            <a:r>
              <a:rPr lang="en-US" sz="1800" spc="-1">
                <a:solidFill>
                  <a:srgbClr val="000000"/>
                </a:solidFill>
                <a:ea typeface="+mn-lt"/>
                <a:cs typeface="+mn-lt"/>
              </a:rPr>
              <a:t>Leverage </a:t>
            </a:r>
            <a:r>
              <a:rPr lang="en-US" sz="1800" b="1" spc="-1">
                <a:solidFill>
                  <a:srgbClr val="000000"/>
                </a:solidFill>
                <a:ea typeface="+mn-lt"/>
                <a:cs typeface="+mn-lt"/>
              </a:rPr>
              <a:t>Explainable AI (XAI)</a:t>
            </a:r>
            <a:r>
              <a:rPr lang="en-US" sz="1800" spc="-1">
                <a:solidFill>
                  <a:srgbClr val="000000"/>
                </a:solidFill>
                <a:ea typeface="+mn-lt"/>
                <a:cs typeface="+mn-lt"/>
              </a:rPr>
              <a:t> to provide transparent risk explanations and actionable remediation recommendations for security teams.</a:t>
            </a:r>
            <a:endParaRPr lang="en-US" sz="1800" b="0" strike="noStrike" spc="-1">
              <a:solidFill>
                <a:srgbClr val="000000"/>
              </a:solidFill>
              <a:ea typeface="+mn-lt"/>
              <a:cs typeface="+mn-lt"/>
            </a:endParaRPr>
          </a:p>
        </p:txBody>
      </p:sp>
    </p:spTree>
    <p:extLst>
      <p:ext uri="{BB962C8B-B14F-4D97-AF65-F5344CB8AC3E}">
        <p14:creationId xmlns:p14="http://schemas.microsoft.com/office/powerpoint/2010/main" val="2389279418"/>
      </p:ext>
    </p:extLst>
  </p:cSld>
  <p:clrMapOvr>
    <a:masterClrMapping/>
  </p:clrMapOvr>
  <mc:AlternateContent xmlns:mc="http://schemas.openxmlformats.org/markup-compatibility/2006" xmlns:p14="http://schemas.microsoft.com/office/powerpoint/2010/main">
    <mc:Choice Requires="p14">
      <p:transition spd="slow" p14:dur="3400"/>
    </mc:Choice>
    <mc:Fallback xmlns="">
      <p:transition spd="slow"/>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 name="PlaceHolder 1"/>
          <p:cNvSpPr>
            <a:spLocks noGrp="1"/>
          </p:cNvSpPr>
          <p:nvPr>
            <p:ph type="title"/>
          </p:nvPr>
        </p:nvSpPr>
        <p:spPr>
          <a:xfrm>
            <a:off x="0" y="0"/>
            <a:ext cx="12191400" cy="1324800"/>
          </a:xfrm>
          <a:prstGeom prst="rect">
            <a:avLst/>
          </a:prstGeom>
          <a:noFill/>
          <a:ln w="0">
            <a:noFill/>
          </a:ln>
        </p:spPr>
        <p:txBody>
          <a:bodyPr lIns="90000" tIns="45000" rIns="90000" bIns="45000" anchor="ctr">
            <a:normAutofit/>
          </a:bodyPr>
          <a:lstStyle/>
          <a:p>
            <a:pPr indent="0" algn="ctr">
              <a:lnSpc>
                <a:spcPct val="90000"/>
              </a:lnSpc>
              <a:buNone/>
              <a:tabLst>
                <a:tab pos="0" algn="l"/>
              </a:tabLst>
            </a:pPr>
            <a:r>
              <a:rPr lang="en-US" sz="4000" b="0" strike="noStrike" spc="-1" dirty="0">
                <a:solidFill>
                  <a:srgbClr val="000000"/>
                </a:solidFill>
                <a:latin typeface="Times New Roman"/>
              </a:rPr>
              <a:t>Proposed Methodology/Architecture/Algorithm/Technique/</a:t>
            </a:r>
            <a:r>
              <a:rPr lang="en-US" sz="4000" b="0" strike="noStrike" spc="-1" dirty="0" err="1">
                <a:solidFill>
                  <a:srgbClr val="000000"/>
                </a:solidFill>
                <a:latin typeface="Times New Roman"/>
              </a:rPr>
              <a:t>etc</a:t>
            </a:r>
            <a:endParaRPr lang="en-US" sz="4000" b="0" strike="noStrike" spc="-1" dirty="0">
              <a:solidFill>
                <a:srgbClr val="000000"/>
              </a:solidFill>
              <a:latin typeface="Times New Roman"/>
            </a:endParaRPr>
          </a:p>
        </p:txBody>
      </p:sp>
      <p:pic>
        <p:nvPicPr>
          <p:cNvPr id="2" name="Content Placeholder 1">
            <a:extLst>
              <a:ext uri="{FF2B5EF4-FFF2-40B4-BE49-F238E27FC236}">
                <a16:creationId xmlns:a16="http://schemas.microsoft.com/office/drawing/2014/main" id="{7554E5C9-A8F7-F1CF-C270-2C890B5E0518}"/>
              </a:ext>
            </a:extLst>
          </p:cNvPr>
          <p:cNvPicPr>
            <a:picLocks noGrp="1" noChangeAspect="1"/>
          </p:cNvPicPr>
          <p:nvPr>
            <p:ph/>
          </p:nvPr>
        </p:nvPicPr>
        <p:blipFill>
          <a:blip r:embed="rId3"/>
          <a:stretch>
            <a:fillRect/>
          </a:stretch>
        </p:blipFill>
        <p:spPr>
          <a:xfrm>
            <a:off x="493996" y="1718840"/>
            <a:ext cx="6096000" cy="4064000"/>
          </a:xfrm>
          <a:prstGeom prst="rect">
            <a:avLst/>
          </a:prstGeom>
          <a:noFill/>
          <a:ln w="0">
            <a:noFill/>
          </a:ln>
        </p:spPr>
      </p:pic>
      <p:sp>
        <p:nvSpPr>
          <p:cNvPr id="3" name="TextBox 2">
            <a:extLst>
              <a:ext uri="{FF2B5EF4-FFF2-40B4-BE49-F238E27FC236}">
                <a16:creationId xmlns:a16="http://schemas.microsoft.com/office/drawing/2014/main" id="{E74A0B04-4FBE-BC48-A1F2-9CF72AA75086}"/>
              </a:ext>
            </a:extLst>
          </p:cNvPr>
          <p:cNvSpPr txBox="1"/>
          <p:nvPr/>
        </p:nvSpPr>
        <p:spPr>
          <a:xfrm>
            <a:off x="7269238" y="1705428"/>
            <a:ext cx="4414761" cy="424731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ea typeface="+mn-lt"/>
                <a:cs typeface="+mn-lt"/>
              </a:rPr>
              <a:t>AWS Cloud Resources</a:t>
            </a:r>
            <a:endParaRPr lang="en-US"/>
          </a:p>
          <a:p>
            <a:r>
              <a:rPr lang="en-US">
                <a:ea typeface="+mn-lt"/>
                <a:cs typeface="+mn-lt"/>
              </a:rPr>
              <a:t>        ↓</a:t>
            </a:r>
            <a:endParaRPr lang="en-US"/>
          </a:p>
          <a:p>
            <a:r>
              <a:rPr lang="en-US">
                <a:ea typeface="+mn-lt"/>
                <a:cs typeface="+mn-lt"/>
              </a:rPr>
              <a:t>Cloud Asset Collection</a:t>
            </a:r>
            <a:endParaRPr lang="en-US"/>
          </a:p>
          <a:p>
            <a:r>
              <a:rPr lang="en-US">
                <a:ea typeface="+mn-lt"/>
                <a:cs typeface="+mn-lt"/>
              </a:rPr>
              <a:t>        ↓</a:t>
            </a:r>
            <a:endParaRPr lang="en-US"/>
          </a:p>
          <a:p>
            <a:r>
              <a:rPr lang="en-US">
                <a:ea typeface="+mn-lt"/>
                <a:cs typeface="+mn-lt"/>
              </a:rPr>
              <a:t>Security Configuration Analysis</a:t>
            </a:r>
            <a:endParaRPr lang="en-US"/>
          </a:p>
          <a:p>
            <a:r>
              <a:rPr lang="en-US">
                <a:ea typeface="+mn-lt"/>
                <a:cs typeface="+mn-lt"/>
              </a:rPr>
              <a:t>        ↓</a:t>
            </a:r>
            <a:endParaRPr lang="en-US"/>
          </a:p>
          <a:p>
            <a:r>
              <a:rPr lang="en-US">
                <a:ea typeface="+mn-lt"/>
                <a:cs typeface="+mn-lt"/>
              </a:rPr>
              <a:t>Knowledge Graph Construction</a:t>
            </a:r>
            <a:endParaRPr lang="en-US"/>
          </a:p>
          <a:p>
            <a:r>
              <a:rPr lang="en-US">
                <a:ea typeface="+mn-lt"/>
                <a:cs typeface="+mn-lt"/>
              </a:rPr>
              <a:t>        ↓</a:t>
            </a:r>
            <a:endParaRPr lang="en-US"/>
          </a:p>
          <a:p>
            <a:r>
              <a:rPr lang="en-US">
                <a:ea typeface="+mn-lt"/>
                <a:cs typeface="+mn-lt"/>
              </a:rPr>
              <a:t>Attack Graph Generation</a:t>
            </a:r>
            <a:endParaRPr lang="en-US"/>
          </a:p>
          <a:p>
            <a:r>
              <a:rPr lang="en-US">
                <a:ea typeface="+mn-lt"/>
                <a:cs typeface="+mn-lt"/>
              </a:rPr>
              <a:t>        ↓</a:t>
            </a:r>
            <a:endParaRPr lang="en-US"/>
          </a:p>
          <a:p>
            <a:r>
              <a:rPr lang="en-US">
                <a:ea typeface="+mn-lt"/>
                <a:cs typeface="+mn-lt"/>
              </a:rPr>
              <a:t>Context-Aware Risk Assessment</a:t>
            </a:r>
            <a:endParaRPr lang="en-US"/>
          </a:p>
          <a:p>
            <a:r>
              <a:rPr lang="en-US">
                <a:ea typeface="+mn-lt"/>
                <a:cs typeface="+mn-lt"/>
              </a:rPr>
              <a:t>        ↓</a:t>
            </a:r>
            <a:endParaRPr lang="en-US"/>
          </a:p>
          <a:p>
            <a:r>
              <a:rPr lang="en-US">
                <a:ea typeface="+mn-lt"/>
                <a:cs typeface="+mn-lt"/>
              </a:rPr>
              <a:t>Explainable AI Engine</a:t>
            </a:r>
            <a:endParaRPr lang="en-US"/>
          </a:p>
          <a:p>
            <a:r>
              <a:rPr lang="en-US">
                <a:ea typeface="+mn-lt"/>
                <a:cs typeface="+mn-lt"/>
              </a:rPr>
              <a:t>        ↓</a:t>
            </a:r>
            <a:endParaRPr lang="en-US"/>
          </a:p>
          <a:p>
            <a:r>
              <a:rPr lang="en-US">
                <a:ea typeface="+mn-lt"/>
                <a:cs typeface="+mn-lt"/>
              </a:rPr>
              <a:t>Security Dashboard &amp; Reports</a:t>
            </a:r>
            <a:endParaRPr lang="en-US"/>
          </a:p>
        </p:txBody>
      </p:sp>
      <p:sp>
        <p:nvSpPr>
          <p:cNvPr id="4" name="TextBox 3">
            <a:extLst>
              <a:ext uri="{FF2B5EF4-FFF2-40B4-BE49-F238E27FC236}">
                <a16:creationId xmlns:a16="http://schemas.microsoft.com/office/drawing/2014/main" id="{1B88D75A-3699-3FF6-1755-FCDA5B9B6F1D}"/>
              </a:ext>
            </a:extLst>
          </p:cNvPr>
          <p:cNvSpPr txBox="1"/>
          <p:nvPr/>
        </p:nvSpPr>
        <p:spPr>
          <a:xfrm>
            <a:off x="8176380" y="1330476"/>
            <a:ext cx="3253619" cy="37495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Workflow</a:t>
            </a:r>
          </a:p>
        </p:txBody>
      </p:sp>
    </p:spTree>
  </p:cSld>
  <p:clrMapOvr>
    <a:masterClrMapping/>
  </p:clrMapOvr>
  <mc:AlternateContent xmlns:mc="http://schemas.openxmlformats.org/markup-compatibility/2006" xmlns:p14="http://schemas.microsoft.com/office/powerpoint/2010/main">
    <mc:Choice Requires="p14">
      <p:transition spd="slow" p14:dur="3400"/>
    </mc:Choice>
    <mc:Fallback xmlns:p15="http://schemas.microsoft.com/office/powerpoint/2012/main" xmlns="">
      <p:transition spd="slow"/>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 name="PlaceHolder 1"/>
          <p:cNvSpPr>
            <a:spLocks noGrp="1"/>
          </p:cNvSpPr>
          <p:nvPr>
            <p:ph type="title"/>
          </p:nvPr>
        </p:nvSpPr>
        <p:spPr>
          <a:xfrm>
            <a:off x="360360" y="365040"/>
            <a:ext cx="10992960" cy="1324800"/>
          </a:xfrm>
          <a:prstGeom prst="rect">
            <a:avLst/>
          </a:prstGeom>
          <a:noFill/>
          <a:ln w="0">
            <a:noFill/>
          </a:ln>
        </p:spPr>
        <p:txBody>
          <a:bodyPr lIns="90000" tIns="45000" rIns="90000" bIns="45000" anchor="ctr">
            <a:noAutofit/>
          </a:bodyPr>
          <a:lstStyle/>
          <a:p>
            <a:pPr indent="0">
              <a:lnSpc>
                <a:spcPct val="90000"/>
              </a:lnSpc>
              <a:buNone/>
              <a:tabLst>
                <a:tab pos="0" algn="l"/>
              </a:tabLst>
            </a:pPr>
            <a:r>
              <a:rPr lang="en-US" sz="4400" b="0" strike="noStrike" spc="-1">
                <a:solidFill>
                  <a:srgbClr val="000000"/>
                </a:solidFill>
                <a:latin typeface="Calibri Light"/>
              </a:rPr>
              <a:t>References</a:t>
            </a:r>
            <a:endParaRPr lang="en-IN" sz="4400" b="0" strike="noStrike" spc="-1">
              <a:solidFill>
                <a:srgbClr val="000000"/>
              </a:solidFill>
              <a:latin typeface="Arial"/>
            </a:endParaRPr>
          </a:p>
        </p:txBody>
      </p:sp>
      <p:sp>
        <p:nvSpPr>
          <p:cNvPr id="57" name="PlaceHolder 2"/>
          <p:cNvSpPr>
            <a:spLocks noGrp="1"/>
          </p:cNvSpPr>
          <p:nvPr>
            <p:ph/>
          </p:nvPr>
        </p:nvSpPr>
        <p:spPr>
          <a:xfrm>
            <a:off x="838080" y="1257084"/>
            <a:ext cx="10514880" cy="5789933"/>
          </a:xfrm>
          <a:prstGeom prst="rect">
            <a:avLst/>
          </a:prstGeom>
          <a:noFill/>
          <a:ln w="0">
            <a:noFill/>
          </a:ln>
        </p:spPr>
        <p:txBody>
          <a:bodyPr lIns="90000" tIns="45000" rIns="90000" bIns="45000" anchor="t">
            <a:noAutofit/>
          </a:bodyPr>
          <a:lstStyle/>
          <a:p>
            <a:pPr>
              <a:spcBef>
                <a:spcPts val="1001"/>
              </a:spcBef>
              <a:buClr>
                <a:srgbClr val="610B4B"/>
              </a:buClr>
              <a:buFont typeface="Arial"/>
              <a:buChar char="•"/>
            </a:pPr>
            <a:r>
              <a:rPr lang="en-US" sz="1800" b="1" spc="-1">
                <a:solidFill>
                  <a:srgbClr val="610B4B"/>
                </a:solidFill>
                <a:ea typeface="+mn-lt"/>
                <a:cs typeface="+mn-lt"/>
              </a:rPr>
              <a:t>Amazon Web Services.</a:t>
            </a:r>
            <a:r>
              <a:rPr lang="en-US" sz="1800" spc="-1" dirty="0">
                <a:solidFill>
                  <a:srgbClr val="610B4B"/>
                </a:solidFill>
                <a:ea typeface="+mn-lt"/>
                <a:cs typeface="+mn-lt"/>
              </a:rPr>
              <a:t> </a:t>
            </a:r>
            <a:r>
              <a:rPr lang="en-US" sz="1800" i="1" spc="-1">
                <a:solidFill>
                  <a:srgbClr val="610B4B"/>
                </a:solidFill>
                <a:ea typeface="+mn-lt"/>
                <a:cs typeface="+mn-lt"/>
              </a:rPr>
              <a:t>AWS Well-Architected Framework</a:t>
            </a:r>
            <a:r>
              <a:rPr lang="en-US" sz="1800" spc="-1">
                <a:solidFill>
                  <a:srgbClr val="610B4B"/>
                </a:solidFill>
                <a:ea typeface="+mn-lt"/>
                <a:cs typeface="+mn-lt"/>
              </a:rPr>
              <a:t>, 2024.</a:t>
            </a:r>
            <a:br>
              <a:rPr lang="en-US" sz="1800" spc="-1" dirty="0">
                <a:ea typeface="+mn-lt"/>
                <a:cs typeface="+mn-lt"/>
              </a:rPr>
            </a:br>
            <a:r>
              <a:rPr lang="en-US" sz="1800" spc="-1" dirty="0">
                <a:solidFill>
                  <a:srgbClr val="610B4B"/>
                </a:solidFill>
                <a:ea typeface="+mn-lt"/>
                <a:cs typeface="+mn-lt"/>
              </a:rPr>
              <a:t> </a:t>
            </a:r>
            <a:r>
              <a:rPr lang="en-US" sz="1800" spc="-1" dirty="0">
                <a:solidFill>
                  <a:srgbClr val="610B4B"/>
                </a:solidFill>
                <a:ea typeface="+mn-lt"/>
                <a:cs typeface="+mn-lt"/>
                <a:hlinkClick r:id="rId3"/>
              </a:rPr>
              <a:t>https://docs.aws.amazon.com/wellarchitected/</a:t>
            </a:r>
            <a:endParaRPr lang="en-US" sz="1800" spc="-1">
              <a:solidFill>
                <a:srgbClr val="610B4B"/>
              </a:solidFill>
              <a:ea typeface="+mn-lt"/>
              <a:cs typeface="+mn-lt"/>
            </a:endParaRPr>
          </a:p>
          <a:p>
            <a:pPr>
              <a:spcBef>
                <a:spcPts val="1001"/>
              </a:spcBef>
              <a:buClr>
                <a:srgbClr val="610B4B"/>
              </a:buClr>
              <a:buFont typeface="Arial"/>
              <a:buChar char="•"/>
            </a:pPr>
            <a:r>
              <a:rPr lang="en-US" sz="1800" b="1" spc="-1">
                <a:solidFill>
                  <a:srgbClr val="610B4B"/>
                </a:solidFill>
                <a:ea typeface="+mn-lt"/>
                <a:cs typeface="+mn-lt"/>
              </a:rPr>
              <a:t>Center for Internet Security (CIS).</a:t>
            </a:r>
            <a:r>
              <a:rPr lang="en-US" sz="1800" spc="-1" dirty="0">
                <a:solidFill>
                  <a:srgbClr val="610B4B"/>
                </a:solidFill>
                <a:ea typeface="+mn-lt"/>
                <a:cs typeface="+mn-lt"/>
              </a:rPr>
              <a:t> </a:t>
            </a:r>
            <a:r>
              <a:rPr lang="en-US" sz="1800" i="1" spc="-1">
                <a:solidFill>
                  <a:srgbClr val="610B4B"/>
                </a:solidFill>
                <a:ea typeface="+mn-lt"/>
                <a:cs typeface="+mn-lt"/>
              </a:rPr>
              <a:t>CIS Amazon Web Services Foundations Benchmark v3.0</a:t>
            </a:r>
            <a:r>
              <a:rPr lang="en-US" sz="1800" spc="-1">
                <a:solidFill>
                  <a:srgbClr val="610B4B"/>
                </a:solidFill>
                <a:ea typeface="+mn-lt"/>
                <a:cs typeface="+mn-lt"/>
              </a:rPr>
              <a:t>, 2024.</a:t>
            </a:r>
            <a:br>
              <a:rPr lang="en-US" sz="1800" spc="-1" dirty="0">
                <a:ea typeface="+mn-lt"/>
                <a:cs typeface="+mn-lt"/>
              </a:rPr>
            </a:br>
            <a:r>
              <a:rPr lang="en-US" sz="1800" spc="-1" dirty="0">
                <a:solidFill>
                  <a:srgbClr val="610B4B"/>
                </a:solidFill>
                <a:ea typeface="+mn-lt"/>
                <a:cs typeface="+mn-lt"/>
              </a:rPr>
              <a:t> </a:t>
            </a:r>
            <a:r>
              <a:rPr lang="en-US" sz="1800" spc="-1" dirty="0">
                <a:solidFill>
                  <a:srgbClr val="610B4B"/>
                </a:solidFill>
                <a:ea typeface="+mn-lt"/>
                <a:cs typeface="+mn-lt"/>
                <a:hlinkClick r:id="rId4"/>
              </a:rPr>
              <a:t>https://www.cisecurity.org/benchmark/amazon_web_services</a:t>
            </a:r>
            <a:endParaRPr lang="en-US" sz="1800" spc="-1" dirty="0">
              <a:solidFill>
                <a:srgbClr val="610B4B"/>
              </a:solidFill>
              <a:ea typeface="+mn-lt"/>
              <a:cs typeface="+mn-lt"/>
            </a:endParaRPr>
          </a:p>
          <a:p>
            <a:pPr>
              <a:spcBef>
                <a:spcPts val="1001"/>
              </a:spcBef>
              <a:buClr>
                <a:srgbClr val="610B4B"/>
              </a:buClr>
              <a:buFont typeface="Arial"/>
              <a:buChar char="•"/>
            </a:pPr>
            <a:r>
              <a:rPr lang="en-US" sz="1800" b="1" spc="-1">
                <a:solidFill>
                  <a:srgbClr val="610B4B"/>
                </a:solidFill>
                <a:ea typeface="+mn-lt"/>
                <a:cs typeface="+mn-lt"/>
              </a:rPr>
              <a:t>National Institute of Standards and Technology (NIST).</a:t>
            </a:r>
            <a:r>
              <a:rPr lang="en-US" sz="1800" spc="-1" dirty="0">
                <a:solidFill>
                  <a:srgbClr val="610B4B"/>
                </a:solidFill>
                <a:ea typeface="+mn-lt"/>
                <a:cs typeface="+mn-lt"/>
              </a:rPr>
              <a:t> </a:t>
            </a:r>
            <a:r>
              <a:rPr lang="en-US" sz="1800" i="1" spc="-1">
                <a:solidFill>
                  <a:srgbClr val="610B4B"/>
                </a:solidFill>
                <a:ea typeface="+mn-lt"/>
                <a:cs typeface="+mn-lt"/>
              </a:rPr>
              <a:t>Cybersecurity Framework (CSF) 2.0</a:t>
            </a:r>
            <a:r>
              <a:rPr lang="en-US" sz="1800" spc="-1">
                <a:solidFill>
                  <a:srgbClr val="610B4B"/>
                </a:solidFill>
                <a:ea typeface="+mn-lt"/>
                <a:cs typeface="+mn-lt"/>
              </a:rPr>
              <a:t>, 2024.</a:t>
            </a:r>
            <a:br>
              <a:rPr lang="en-US" sz="1800" spc="-1" dirty="0">
                <a:ea typeface="+mn-lt"/>
                <a:cs typeface="+mn-lt"/>
              </a:rPr>
            </a:br>
            <a:r>
              <a:rPr lang="en-US" sz="1800" spc="-1" dirty="0">
                <a:solidFill>
                  <a:srgbClr val="610B4B"/>
                </a:solidFill>
                <a:ea typeface="+mn-lt"/>
                <a:cs typeface="+mn-lt"/>
              </a:rPr>
              <a:t> </a:t>
            </a:r>
            <a:r>
              <a:rPr lang="en-US" sz="1800" spc="-1" dirty="0">
                <a:solidFill>
                  <a:srgbClr val="610B4B"/>
                </a:solidFill>
                <a:ea typeface="+mn-lt"/>
                <a:cs typeface="+mn-lt"/>
                <a:hlinkClick r:id="rId5"/>
              </a:rPr>
              <a:t>https://www.nist.gov/cyberframework</a:t>
            </a:r>
            <a:endParaRPr lang="en-US" sz="1800" b="0" strike="noStrike" spc="-1" dirty="0">
              <a:solidFill>
                <a:srgbClr val="610B4B"/>
              </a:solidFill>
              <a:ea typeface="+mn-lt"/>
              <a:cs typeface="+mn-lt"/>
            </a:endParaRPr>
          </a:p>
          <a:p>
            <a:pPr>
              <a:spcBef>
                <a:spcPts val="1001"/>
              </a:spcBef>
              <a:buClr>
                <a:srgbClr val="610B4B"/>
              </a:buClr>
              <a:buFont typeface="Arial"/>
              <a:buChar char="•"/>
            </a:pPr>
            <a:r>
              <a:rPr lang="en-US" sz="1800" b="1" spc="-1">
                <a:solidFill>
                  <a:srgbClr val="610B4B"/>
                </a:solidFill>
                <a:ea typeface="+mn-lt"/>
                <a:cs typeface="+mn-lt"/>
              </a:rPr>
              <a:t>Neo4j Inc.</a:t>
            </a:r>
            <a:r>
              <a:rPr lang="en-US" sz="1800" spc="-1" dirty="0">
                <a:solidFill>
                  <a:srgbClr val="610B4B"/>
                </a:solidFill>
                <a:ea typeface="+mn-lt"/>
                <a:cs typeface="+mn-lt"/>
              </a:rPr>
              <a:t> </a:t>
            </a:r>
            <a:r>
              <a:rPr lang="en-US" sz="1800" i="1" spc="-1">
                <a:solidFill>
                  <a:srgbClr val="610B4B"/>
                </a:solidFill>
                <a:ea typeface="+mn-lt"/>
                <a:cs typeface="+mn-lt"/>
              </a:rPr>
              <a:t>Neo4j Graph Database Documentation</a:t>
            </a:r>
            <a:r>
              <a:rPr lang="en-US" sz="1800" spc="-1">
                <a:solidFill>
                  <a:srgbClr val="610B4B"/>
                </a:solidFill>
                <a:ea typeface="+mn-lt"/>
                <a:cs typeface="+mn-lt"/>
              </a:rPr>
              <a:t>.</a:t>
            </a:r>
            <a:br>
              <a:rPr lang="en-US" sz="1800" spc="-1" dirty="0">
                <a:ea typeface="+mn-lt"/>
                <a:cs typeface="+mn-lt"/>
              </a:rPr>
            </a:br>
            <a:r>
              <a:rPr lang="en-US" sz="1800" spc="-1" dirty="0">
                <a:solidFill>
                  <a:srgbClr val="610B4B"/>
                </a:solidFill>
                <a:ea typeface="+mn-lt"/>
                <a:cs typeface="+mn-lt"/>
              </a:rPr>
              <a:t> </a:t>
            </a:r>
            <a:r>
              <a:rPr lang="en-US" sz="1800" spc="-1" dirty="0">
                <a:solidFill>
                  <a:srgbClr val="610B4B"/>
                </a:solidFill>
                <a:ea typeface="+mn-lt"/>
                <a:cs typeface="+mn-lt"/>
                <a:hlinkClick r:id="rId6"/>
              </a:rPr>
              <a:t>https://neo4j.com/docs/</a:t>
            </a:r>
            <a:endParaRPr lang="en-US" sz="1800" spc="-1" dirty="0">
              <a:solidFill>
                <a:srgbClr val="610B4B"/>
              </a:solidFill>
              <a:ea typeface="+mn-lt"/>
              <a:cs typeface="+mn-lt"/>
            </a:endParaRPr>
          </a:p>
          <a:p>
            <a:pPr>
              <a:spcBef>
                <a:spcPts val="1001"/>
              </a:spcBef>
              <a:buClr>
                <a:srgbClr val="610B4B"/>
              </a:buClr>
              <a:buFont typeface="Arial"/>
              <a:buChar char="•"/>
            </a:pPr>
            <a:r>
              <a:rPr lang="en-US" sz="1800" b="1" spc="-1">
                <a:solidFill>
                  <a:srgbClr val="610B4B"/>
                </a:solidFill>
                <a:ea typeface="+mn-lt"/>
                <a:cs typeface="+mn-lt"/>
              </a:rPr>
              <a:t>Stuart Russell, Peter Norvig.</a:t>
            </a:r>
            <a:r>
              <a:rPr lang="en-US" sz="1800" spc="-1" dirty="0">
                <a:solidFill>
                  <a:srgbClr val="610B4B"/>
                </a:solidFill>
                <a:ea typeface="+mn-lt"/>
                <a:cs typeface="+mn-lt"/>
              </a:rPr>
              <a:t> </a:t>
            </a:r>
            <a:r>
              <a:rPr lang="en-US" sz="1800" i="1" spc="-1">
                <a:solidFill>
                  <a:srgbClr val="610B4B"/>
                </a:solidFill>
                <a:ea typeface="+mn-lt"/>
                <a:cs typeface="+mn-lt"/>
              </a:rPr>
              <a:t>Artificial Intelligence: A Modern Approach (4th Edition)</a:t>
            </a:r>
            <a:r>
              <a:rPr lang="en-US" sz="1800" spc="-1">
                <a:solidFill>
                  <a:srgbClr val="610B4B"/>
                </a:solidFill>
                <a:ea typeface="+mn-lt"/>
                <a:cs typeface="+mn-lt"/>
              </a:rPr>
              <a:t>. Pearson, 2021.</a:t>
            </a:r>
            <a:br>
              <a:rPr lang="en-US" sz="1800" spc="-1" dirty="0">
                <a:solidFill>
                  <a:srgbClr val="610B4B"/>
                </a:solidFill>
                <a:ea typeface="+mn-lt"/>
                <a:cs typeface="+mn-lt"/>
              </a:rPr>
            </a:br>
            <a:r>
              <a:rPr lang="en-US" sz="1800" spc="-1" dirty="0">
                <a:solidFill>
                  <a:srgbClr val="610B4B"/>
                </a:solidFill>
                <a:ea typeface="+mn-lt"/>
                <a:cs typeface="+mn-lt"/>
              </a:rPr>
              <a:t> </a:t>
            </a:r>
            <a:r>
              <a:rPr lang="en-US" sz="1800" spc="-1" dirty="0">
                <a:solidFill>
                  <a:srgbClr val="610B4B"/>
                </a:solidFill>
                <a:ea typeface="+mn-lt"/>
                <a:cs typeface="+mn-lt"/>
                <a:hlinkClick r:id="rId7"/>
              </a:rPr>
              <a:t>https://aima.cs.berkeley.edu/</a:t>
            </a:r>
            <a:endParaRPr lang="en-US" sz="1800" spc="-1" dirty="0">
              <a:solidFill>
                <a:srgbClr val="610B4B"/>
              </a:solidFill>
              <a:latin typeface="Arial"/>
              <a:cs typeface="Arial"/>
            </a:endParaRPr>
          </a:p>
          <a:p>
            <a:pPr>
              <a:spcBef>
                <a:spcPts val="1001"/>
              </a:spcBef>
              <a:buClr>
                <a:srgbClr val="610B4B"/>
              </a:buClr>
              <a:buFont typeface="Arial"/>
              <a:buChar char="•"/>
            </a:pPr>
            <a:r>
              <a:rPr lang="en-US" sz="1800" b="1" spc="-1">
                <a:solidFill>
                  <a:srgbClr val="610B4B"/>
                </a:solidFill>
                <a:ea typeface="+mn-lt"/>
                <a:cs typeface="+mn-lt"/>
              </a:rPr>
              <a:t>AWS Security Best Practices Documentation.</a:t>
            </a:r>
            <a:br>
              <a:rPr lang="en-US" sz="1800" b="1" spc="-1" dirty="0">
                <a:solidFill>
                  <a:srgbClr val="610B4B"/>
                </a:solidFill>
                <a:ea typeface="+mn-lt"/>
                <a:cs typeface="+mn-lt"/>
              </a:rPr>
            </a:br>
            <a:r>
              <a:rPr lang="en-US" sz="1800" b="1" spc="-1" dirty="0">
                <a:solidFill>
                  <a:srgbClr val="610B4B"/>
                </a:solidFill>
                <a:ea typeface="+mn-lt"/>
                <a:cs typeface="+mn-lt"/>
              </a:rPr>
              <a:t> </a:t>
            </a:r>
            <a:r>
              <a:rPr lang="en-US" sz="1800" spc="-1" dirty="0">
                <a:solidFill>
                  <a:srgbClr val="610B4B"/>
                </a:solidFill>
                <a:ea typeface="+mn-lt"/>
                <a:cs typeface="+mn-lt"/>
                <a:hlinkClick r:id="rId8"/>
              </a:rPr>
              <a:t>https://docs.aws.amazon.com/security/</a:t>
            </a:r>
          </a:p>
          <a:p>
            <a:pPr>
              <a:spcBef>
                <a:spcPts val="1001"/>
              </a:spcBef>
              <a:buClr>
                <a:srgbClr val="610B4B"/>
              </a:buClr>
              <a:buFont typeface="Arial"/>
              <a:buChar char="•"/>
            </a:pPr>
            <a:r>
              <a:rPr lang="en-US" sz="1800" b="1" spc="-1" dirty="0">
                <a:solidFill>
                  <a:srgbClr val="610B4B"/>
                </a:solidFill>
                <a:ea typeface="+mn-lt"/>
                <a:cs typeface="+mn-lt"/>
              </a:rPr>
              <a:t>Prowler – </a:t>
            </a:r>
            <a:r>
              <a:rPr lang="en-US" sz="1800" b="1" spc="-1" dirty="0" err="1">
                <a:solidFill>
                  <a:srgbClr val="610B4B"/>
                </a:solidFill>
                <a:ea typeface="+mn-lt"/>
                <a:cs typeface="+mn-lt"/>
              </a:rPr>
              <a:t>Open Source</a:t>
            </a:r>
            <a:r>
              <a:rPr lang="en-US" sz="1800" b="1" spc="-1" dirty="0">
                <a:solidFill>
                  <a:srgbClr val="610B4B"/>
                </a:solidFill>
                <a:ea typeface="+mn-lt"/>
                <a:cs typeface="+mn-lt"/>
              </a:rPr>
              <a:t> Cloud Security Tool.</a:t>
            </a:r>
            <a:br>
              <a:rPr lang="en-US" sz="1800" b="1" spc="-1" dirty="0">
                <a:ea typeface="+mn-lt"/>
                <a:cs typeface="+mn-lt"/>
              </a:rPr>
            </a:br>
            <a:r>
              <a:rPr lang="en-US" sz="1800" b="1" spc="-1" dirty="0">
                <a:solidFill>
                  <a:srgbClr val="610B4B"/>
                </a:solidFill>
                <a:ea typeface="+mn-lt"/>
                <a:cs typeface="+mn-lt"/>
              </a:rPr>
              <a:t> </a:t>
            </a:r>
            <a:r>
              <a:rPr lang="en-US" sz="1800" spc="-1" dirty="0">
                <a:solidFill>
                  <a:srgbClr val="610B4B"/>
                </a:solidFill>
                <a:ea typeface="+mn-lt"/>
                <a:cs typeface="+mn-lt"/>
                <a:hlinkClick r:id="rId9"/>
              </a:rPr>
              <a:t>https://github.com/prowler-cloud/prowler</a:t>
            </a:r>
            <a:endParaRPr lang="en-US" sz="1800" spc="-1">
              <a:solidFill>
                <a:srgbClr val="610B4B"/>
              </a:solidFill>
              <a:ea typeface="+mn-lt"/>
              <a:cs typeface="+mn-lt"/>
            </a:endParaRPr>
          </a:p>
        </p:txBody>
      </p:sp>
    </p:spTree>
  </p:cSld>
  <p:clrMapOvr>
    <a:masterClrMapping/>
  </p:clrMapOvr>
  <p:transition spd="slow">
    <p:randomBar dir="vert"/>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PlaceHolder 1"/>
          <p:cNvSpPr>
            <a:spLocks noGrp="1"/>
          </p:cNvSpPr>
          <p:nvPr>
            <p:ph/>
          </p:nvPr>
        </p:nvSpPr>
        <p:spPr>
          <a:xfrm>
            <a:off x="838080" y="817560"/>
            <a:ext cx="10514880" cy="5358960"/>
          </a:xfrm>
          <a:prstGeom prst="rect">
            <a:avLst/>
          </a:prstGeom>
          <a:noFill/>
          <a:ln w="0">
            <a:noFill/>
          </a:ln>
        </p:spPr>
        <p:txBody>
          <a:bodyPr lIns="90000" tIns="45000" rIns="90000" bIns="45000" anchor="t">
            <a:normAutofit/>
          </a:bodyPr>
          <a:lstStyle/>
          <a:p>
            <a:pPr indent="0" algn="ctr">
              <a:lnSpc>
                <a:spcPct val="90000"/>
              </a:lnSpc>
              <a:spcBef>
                <a:spcPts val="1001"/>
              </a:spcBef>
              <a:buNone/>
              <a:tabLst>
                <a:tab pos="0" algn="l"/>
              </a:tabLst>
            </a:pPr>
            <a:endParaRPr lang="en-IN" sz="6000" b="0" strike="noStrike" spc="-1">
              <a:solidFill>
                <a:srgbClr val="000000"/>
              </a:solidFill>
              <a:latin typeface="Arial"/>
            </a:endParaRPr>
          </a:p>
          <a:p>
            <a:pPr indent="0" algn="ctr">
              <a:lnSpc>
                <a:spcPct val="90000"/>
              </a:lnSpc>
              <a:spcBef>
                <a:spcPts val="1001"/>
              </a:spcBef>
              <a:buNone/>
              <a:tabLst>
                <a:tab pos="0" algn="l"/>
              </a:tabLst>
            </a:pPr>
            <a:endParaRPr lang="en-IN" sz="6000" b="0" strike="noStrike" spc="-1">
              <a:solidFill>
                <a:srgbClr val="000000"/>
              </a:solidFill>
              <a:latin typeface="Arial"/>
            </a:endParaRPr>
          </a:p>
          <a:p>
            <a:pPr indent="0" algn="ctr">
              <a:lnSpc>
                <a:spcPct val="90000"/>
              </a:lnSpc>
              <a:spcBef>
                <a:spcPts val="1001"/>
              </a:spcBef>
              <a:buNone/>
              <a:tabLst>
                <a:tab pos="0" algn="l"/>
              </a:tabLst>
            </a:pPr>
            <a:r>
              <a:rPr lang="en-US" sz="6000" b="0" strike="noStrike" spc="-1">
                <a:solidFill>
                  <a:srgbClr val="000000"/>
                </a:solidFill>
                <a:latin typeface="Times New Roman"/>
              </a:rPr>
              <a:t>Thank you and Any Queries</a:t>
            </a:r>
            <a:endParaRPr lang="en-IN" sz="6000" b="0" strike="noStrike" spc="-1">
              <a:solidFill>
                <a:srgbClr val="000000"/>
              </a:solidFill>
              <a:latin typeface="Arial"/>
            </a:endParaRPr>
          </a:p>
        </p:txBody>
      </p:sp>
    </p:spTree>
  </p:cSld>
  <p:clrMapOvr>
    <a:masterClrMapping/>
  </p:clrMapOvr>
  <p:transition spd="slow">
    <p:randomBar dir="vert"/>
  </p:transition>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6350" cap="flat" cmpd="sng" algn="ctr">
          <a:solidFill>
            <a:schemeClr val="phClr">
              <a:shade val="95000"/>
              <a:satMod val="105000"/>
            </a:schemeClr>
          </a:solidFill>
          <a:prstDash val="solid"/>
          <a:miter/>
        </a:ln>
        <a:ln w="12700" cap="flat" cmpd="sng" algn="ctr">
          <a:solidFill>
            <a:schemeClr val="phClr"/>
          </a:solidFill>
          <a:prstDash val="solid"/>
          <a:miter/>
        </a:ln>
        <a:ln w="19050" cap="flat" cmpd="sng" algn="ctr">
          <a:solidFill>
            <a:schemeClr val="phClr"/>
          </a:solidFill>
          <a:prstDash val="solid"/>
          <a:miter/>
        </a:ln>
      </a:lnStyleLst>
      <a:effectStyleLst>
        <a:effectStyle>
          <a:effectLst/>
        </a:effectStyle>
        <a:effectStyle>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38</TotalTime>
  <Words>165</Words>
  <Application>Microsoft Office PowerPoint</Application>
  <PresentationFormat>Widescreen</PresentationFormat>
  <Paragraphs>32</Paragraphs>
  <Slides>9</Slides>
  <Notes>6</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Review-1 on CloudSentinel AI </vt:lpstr>
      <vt:lpstr>Overview</vt:lpstr>
      <vt:lpstr>Introduction</vt:lpstr>
      <vt:lpstr>Literature Review</vt:lpstr>
      <vt:lpstr>Problem Statement</vt:lpstr>
      <vt:lpstr>Objectives of the Project</vt:lpstr>
      <vt:lpstr>Proposed Methodology/Architecture/Algorithm/Technique/etc</vt:lpstr>
      <vt:lpstr>References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Transaction Management in JDBC</dc:title>
  <dc:subject/>
  <dc:creator>Chiranjeevi Lect</dc:creator>
  <dc:description/>
  <cp:lastModifiedBy>Ananth Reddy</cp:lastModifiedBy>
  <cp:revision>127</cp:revision>
  <dcterms:created xsi:type="dcterms:W3CDTF">2023-08-05T05:18:30Z</dcterms:created>
  <dcterms:modified xsi:type="dcterms:W3CDTF">2026-07-31T15:25:00Z</dcterms:modified>
  <dc:language>en-IN</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Widescreen</vt:lpwstr>
  </property>
  <property fmtid="{D5CDD505-2E9C-101B-9397-08002B2CF9AE}" pid="3" name="Slides">
    <vt:i4>9</vt:i4>
  </property>
</Properties>
</file>